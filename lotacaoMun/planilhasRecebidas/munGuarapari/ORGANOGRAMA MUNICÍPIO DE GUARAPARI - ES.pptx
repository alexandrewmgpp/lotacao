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8" r:id="rId3"/>
    <p:sldId id="260" r:id="rId4"/>
    <p:sldId id="262" r:id="rId5"/>
    <p:sldId id="264" r:id="rId6"/>
    <p:sldId id="266" r:id="rId7"/>
    <p:sldId id="268" r:id="rId8"/>
    <p:sldId id="270" r:id="rId9"/>
    <p:sldId id="272" r:id="rId10"/>
    <p:sldId id="274" r:id="rId11"/>
    <p:sldId id="276" r:id="rId12"/>
    <p:sldId id="278" r:id="rId13"/>
    <p:sldId id="280" r:id="rId14"/>
    <p:sldId id="282" r:id="rId15"/>
    <p:sldId id="284" r:id="rId16"/>
    <p:sldId id="286" r:id="rId17"/>
  </p:sldIdLst>
  <p:sldSz cx="10799763" cy="7559675"/>
  <p:notesSz cx="6797675" cy="98726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12A927-5F0E-4BEA-8496-530AE35216B2}">
  <a:tblStyle styleId="{E612A927-5F0E-4BEA-8496-530AE35216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739775"/>
            <a:ext cx="5287963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84069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7270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520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766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3865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046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258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Shape 264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673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5027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Shape 378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6619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421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Shape 422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292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Shape 452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5263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516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Shape 517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2500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Shape 563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6991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612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Shape 613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1164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Shape 686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Shape 687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771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Shape 774"/>
          <p:cNvSpPr>
            <a:spLocks noGrp="1" noRot="1" noChangeAspect="1"/>
          </p:cNvSpPr>
          <p:nvPr>
            <p:ph type="sldImg" idx="2"/>
          </p:nvPr>
        </p:nvSpPr>
        <p:spPr>
          <a:xfrm>
            <a:off x="754063" y="739775"/>
            <a:ext cx="5289550" cy="37036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Shape 775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351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68159" y="1094388"/>
            <a:ext cx="10063800" cy="30171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defRPr sz="5200"/>
            </a:lvl1pPr>
            <a:lvl2pPr lvl="1" algn="ctr" rtl="0">
              <a:spcBef>
                <a:spcPts val="0"/>
              </a:spcBef>
              <a:buSzPct val="100000"/>
              <a:defRPr sz="5200"/>
            </a:lvl2pPr>
            <a:lvl3pPr lvl="2" algn="ctr" rtl="0">
              <a:spcBef>
                <a:spcPts val="0"/>
              </a:spcBef>
              <a:buSzPct val="100000"/>
              <a:defRPr sz="5200"/>
            </a:lvl3pPr>
            <a:lvl4pPr lvl="3" algn="ctr" rtl="0">
              <a:spcBef>
                <a:spcPts val="0"/>
              </a:spcBef>
              <a:buSzPct val="100000"/>
              <a:defRPr sz="5200"/>
            </a:lvl4pPr>
            <a:lvl5pPr lvl="4" algn="ctr" rtl="0">
              <a:spcBef>
                <a:spcPts val="0"/>
              </a:spcBef>
              <a:buSzPct val="100000"/>
              <a:defRPr sz="5200"/>
            </a:lvl5pPr>
            <a:lvl6pPr lvl="5" algn="ctr" rtl="0">
              <a:spcBef>
                <a:spcPts val="0"/>
              </a:spcBef>
              <a:buSzPct val="100000"/>
              <a:defRPr sz="5200"/>
            </a:lvl6pPr>
            <a:lvl7pPr lvl="6" algn="ctr" rtl="0">
              <a:spcBef>
                <a:spcPts val="0"/>
              </a:spcBef>
              <a:buSzPct val="100000"/>
              <a:defRPr sz="5200"/>
            </a:lvl7pPr>
            <a:lvl8pPr lvl="7" algn="ctr" rtl="0">
              <a:spcBef>
                <a:spcPts val="0"/>
              </a:spcBef>
              <a:buSzPct val="100000"/>
              <a:defRPr sz="5200"/>
            </a:lvl8pPr>
            <a:lvl9pPr lvl="8" algn="ctr" rtl="0">
              <a:spcBef>
                <a:spcPts val="0"/>
              </a:spcBef>
              <a:buSzPct val="100000"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68149" y="4165643"/>
            <a:ext cx="10063800" cy="11652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68149" y="3161354"/>
            <a:ext cx="10063800" cy="12372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 rtl="0">
              <a:spcBef>
                <a:spcPts val="0"/>
              </a:spcBef>
              <a:buSzPct val="100000"/>
              <a:defRPr sz="3600"/>
            </a:lvl1pPr>
            <a:lvl2pPr lvl="1" algn="ctr" rtl="0">
              <a:spcBef>
                <a:spcPts val="0"/>
              </a:spcBef>
              <a:buSzPct val="100000"/>
              <a:defRPr sz="3600"/>
            </a:lvl2pPr>
            <a:lvl3pPr lvl="2" algn="ctr" rtl="0">
              <a:spcBef>
                <a:spcPts val="0"/>
              </a:spcBef>
              <a:buSzPct val="100000"/>
              <a:defRPr sz="3600"/>
            </a:lvl3pPr>
            <a:lvl4pPr lvl="3" algn="ctr" rtl="0">
              <a:spcBef>
                <a:spcPts val="0"/>
              </a:spcBef>
              <a:buSzPct val="100000"/>
              <a:defRPr sz="3600"/>
            </a:lvl4pPr>
            <a:lvl5pPr lvl="4" algn="ctr" rtl="0">
              <a:spcBef>
                <a:spcPts val="0"/>
              </a:spcBef>
              <a:buSzPct val="100000"/>
              <a:defRPr sz="3600"/>
            </a:lvl5pPr>
            <a:lvl6pPr lvl="5" algn="ctr" rtl="0">
              <a:spcBef>
                <a:spcPts val="0"/>
              </a:spcBef>
              <a:buSzPct val="100000"/>
              <a:defRPr sz="3600"/>
            </a:lvl6pPr>
            <a:lvl7pPr lvl="6" algn="ctr" rtl="0">
              <a:spcBef>
                <a:spcPts val="0"/>
              </a:spcBef>
              <a:buSzPct val="100000"/>
              <a:defRPr sz="3600"/>
            </a:lvl7pPr>
            <a:lvl8pPr lvl="7" algn="ctr" rtl="0">
              <a:spcBef>
                <a:spcPts val="0"/>
              </a:spcBef>
              <a:buSzPct val="100000"/>
              <a:defRPr sz="3600"/>
            </a:lvl8pPr>
            <a:lvl9pPr lvl="8" algn="ctr" rtl="0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68149" y="654104"/>
            <a:ext cx="10063800" cy="841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68149" y="1693926"/>
            <a:ext cx="10063800" cy="5021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68149" y="654104"/>
            <a:ext cx="10063800" cy="841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68149" y="1693926"/>
            <a:ext cx="4724100" cy="5021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200"/>
            </a:lvl2pPr>
            <a:lvl3pPr lvl="2" rtl="0">
              <a:spcBef>
                <a:spcPts val="0"/>
              </a:spcBef>
              <a:buSzPct val="100000"/>
              <a:defRPr sz="1200"/>
            </a:lvl3pPr>
            <a:lvl4pPr lvl="3" rtl="0">
              <a:spcBef>
                <a:spcPts val="0"/>
              </a:spcBef>
              <a:buSzPct val="100000"/>
              <a:defRPr sz="1200"/>
            </a:lvl4pPr>
            <a:lvl5pPr lvl="4" rtl="0">
              <a:spcBef>
                <a:spcPts val="0"/>
              </a:spcBef>
              <a:buSzPct val="100000"/>
              <a:defRPr sz="1200"/>
            </a:lvl5pPr>
            <a:lvl6pPr lvl="5" rtl="0">
              <a:spcBef>
                <a:spcPts val="0"/>
              </a:spcBef>
              <a:buSzPct val="100000"/>
              <a:defRPr sz="1200"/>
            </a:lvl6pPr>
            <a:lvl7pPr lvl="6" rtl="0">
              <a:spcBef>
                <a:spcPts val="0"/>
              </a:spcBef>
              <a:buSzPct val="100000"/>
              <a:defRPr sz="1200"/>
            </a:lvl7pPr>
            <a:lvl8pPr lvl="7" rtl="0">
              <a:spcBef>
                <a:spcPts val="0"/>
              </a:spcBef>
              <a:buSzPct val="100000"/>
              <a:defRPr sz="1200"/>
            </a:lvl8pPr>
            <a:lvl9pPr lvl="8" rtl="0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5707559" y="1693926"/>
            <a:ext cx="4724100" cy="5021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200"/>
            </a:lvl2pPr>
            <a:lvl3pPr lvl="2" rtl="0">
              <a:spcBef>
                <a:spcPts val="0"/>
              </a:spcBef>
              <a:buSzPct val="100000"/>
              <a:defRPr sz="1200"/>
            </a:lvl3pPr>
            <a:lvl4pPr lvl="3" rtl="0">
              <a:spcBef>
                <a:spcPts val="0"/>
              </a:spcBef>
              <a:buSzPct val="100000"/>
              <a:defRPr sz="1200"/>
            </a:lvl4pPr>
            <a:lvl5pPr lvl="4" rtl="0">
              <a:spcBef>
                <a:spcPts val="0"/>
              </a:spcBef>
              <a:buSzPct val="100000"/>
              <a:defRPr sz="1200"/>
            </a:lvl5pPr>
            <a:lvl6pPr lvl="5" rtl="0">
              <a:spcBef>
                <a:spcPts val="0"/>
              </a:spcBef>
              <a:buSzPct val="100000"/>
              <a:defRPr sz="1200"/>
            </a:lvl6pPr>
            <a:lvl7pPr lvl="6" rtl="0">
              <a:spcBef>
                <a:spcPts val="0"/>
              </a:spcBef>
              <a:buSzPct val="100000"/>
              <a:defRPr sz="1200"/>
            </a:lvl7pPr>
            <a:lvl8pPr lvl="7" rtl="0">
              <a:spcBef>
                <a:spcPts val="0"/>
              </a:spcBef>
              <a:buSzPct val="100000"/>
              <a:defRPr sz="1200"/>
            </a:lvl8pPr>
            <a:lvl9pPr lvl="8" rtl="0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68149" y="654104"/>
            <a:ext cx="10063800" cy="841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68149" y="816629"/>
            <a:ext cx="3316800" cy="11109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2400"/>
            </a:lvl1pPr>
            <a:lvl2pPr lvl="1" rtl="0">
              <a:spcBef>
                <a:spcPts val="0"/>
              </a:spcBef>
              <a:buSzPct val="100000"/>
              <a:defRPr sz="2400"/>
            </a:lvl2pPr>
            <a:lvl3pPr lvl="2" rtl="0">
              <a:spcBef>
                <a:spcPts val="0"/>
              </a:spcBef>
              <a:buSzPct val="100000"/>
              <a:defRPr sz="2400"/>
            </a:lvl3pPr>
            <a:lvl4pPr lvl="3" rtl="0">
              <a:spcBef>
                <a:spcPts val="0"/>
              </a:spcBef>
              <a:buSzPct val="100000"/>
              <a:defRPr sz="2400"/>
            </a:lvl4pPr>
            <a:lvl5pPr lvl="4" rtl="0">
              <a:spcBef>
                <a:spcPts val="0"/>
              </a:spcBef>
              <a:buSzPct val="100000"/>
              <a:defRPr sz="2400"/>
            </a:lvl5pPr>
            <a:lvl6pPr lvl="5" rtl="0">
              <a:spcBef>
                <a:spcPts val="0"/>
              </a:spcBef>
              <a:buSzPct val="100000"/>
              <a:defRPr sz="2400"/>
            </a:lvl6pPr>
            <a:lvl7pPr lvl="6" rtl="0">
              <a:spcBef>
                <a:spcPts val="0"/>
              </a:spcBef>
              <a:buSzPct val="100000"/>
              <a:defRPr sz="2400"/>
            </a:lvl7pPr>
            <a:lvl8pPr lvl="7" rtl="0">
              <a:spcBef>
                <a:spcPts val="0"/>
              </a:spcBef>
              <a:buSzPct val="100000"/>
              <a:defRPr sz="2400"/>
            </a:lvl8pPr>
            <a:lvl9pPr lvl="8" rtl="0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68149" y="2042456"/>
            <a:ext cx="3316800" cy="4673399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200"/>
            </a:lvl1pPr>
            <a:lvl2pPr lvl="1" rtl="0">
              <a:spcBef>
                <a:spcPts val="0"/>
              </a:spcBef>
              <a:buSzPct val="100000"/>
              <a:defRPr sz="1200"/>
            </a:lvl2pPr>
            <a:lvl3pPr lvl="2" rtl="0">
              <a:spcBef>
                <a:spcPts val="0"/>
              </a:spcBef>
              <a:buSzPct val="100000"/>
              <a:defRPr sz="1200"/>
            </a:lvl3pPr>
            <a:lvl4pPr lvl="3" rtl="0">
              <a:spcBef>
                <a:spcPts val="0"/>
              </a:spcBef>
              <a:buSzPct val="100000"/>
              <a:defRPr sz="1200"/>
            </a:lvl4pPr>
            <a:lvl5pPr lvl="4" rtl="0">
              <a:spcBef>
                <a:spcPts val="0"/>
              </a:spcBef>
              <a:buSzPct val="100000"/>
              <a:defRPr sz="1200"/>
            </a:lvl5pPr>
            <a:lvl6pPr lvl="5" rtl="0">
              <a:spcBef>
                <a:spcPts val="0"/>
              </a:spcBef>
              <a:buSzPct val="100000"/>
              <a:defRPr sz="1200"/>
            </a:lvl6pPr>
            <a:lvl7pPr lvl="6" rtl="0">
              <a:spcBef>
                <a:spcPts val="0"/>
              </a:spcBef>
              <a:buSzPct val="100000"/>
              <a:defRPr sz="1200"/>
            </a:lvl7pPr>
            <a:lvl8pPr lvl="7" rtl="0">
              <a:spcBef>
                <a:spcPts val="0"/>
              </a:spcBef>
              <a:buSzPct val="100000"/>
              <a:defRPr sz="1200"/>
            </a:lvl8pPr>
            <a:lvl9pPr lvl="8" rtl="0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579035" y="661637"/>
            <a:ext cx="7521000" cy="6012599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rtl="0">
              <a:spcBef>
                <a:spcPts val="0"/>
              </a:spcBef>
              <a:buSzPct val="100000"/>
              <a:defRPr sz="4800"/>
            </a:lvl1pPr>
            <a:lvl2pPr lvl="1" rtl="0">
              <a:spcBef>
                <a:spcPts val="0"/>
              </a:spcBef>
              <a:buSzPct val="100000"/>
              <a:defRPr sz="4800"/>
            </a:lvl2pPr>
            <a:lvl3pPr lvl="2" rtl="0">
              <a:spcBef>
                <a:spcPts val="0"/>
              </a:spcBef>
              <a:buSzPct val="100000"/>
              <a:defRPr sz="4800"/>
            </a:lvl3pPr>
            <a:lvl4pPr lvl="3" rtl="0">
              <a:spcBef>
                <a:spcPts val="0"/>
              </a:spcBef>
              <a:buSzPct val="100000"/>
              <a:defRPr sz="4800"/>
            </a:lvl4pPr>
            <a:lvl5pPr lvl="4" rtl="0">
              <a:spcBef>
                <a:spcPts val="0"/>
              </a:spcBef>
              <a:buSzPct val="100000"/>
              <a:defRPr sz="4800"/>
            </a:lvl5pPr>
            <a:lvl6pPr lvl="5" rtl="0">
              <a:spcBef>
                <a:spcPts val="0"/>
              </a:spcBef>
              <a:buSzPct val="100000"/>
              <a:defRPr sz="4800"/>
            </a:lvl6pPr>
            <a:lvl7pPr lvl="6" rtl="0">
              <a:spcBef>
                <a:spcPts val="0"/>
              </a:spcBef>
              <a:buSzPct val="100000"/>
              <a:defRPr sz="4800"/>
            </a:lvl7pPr>
            <a:lvl8pPr lvl="7" rtl="0">
              <a:spcBef>
                <a:spcPts val="0"/>
              </a:spcBef>
              <a:buSzPct val="100000"/>
              <a:defRPr sz="4800"/>
            </a:lvl8pPr>
            <a:lvl9pPr lvl="8" rtl="0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5400000" y="-183"/>
            <a:ext cx="5400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313582" y="1812540"/>
            <a:ext cx="4777800" cy="2178899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defRPr sz="4200"/>
            </a:lvl1pPr>
            <a:lvl2pPr lvl="1" algn="ctr" rtl="0">
              <a:spcBef>
                <a:spcPts val="0"/>
              </a:spcBef>
              <a:buSzPct val="100000"/>
              <a:defRPr sz="4200"/>
            </a:lvl2pPr>
            <a:lvl3pPr lvl="2" algn="ctr" rtl="0">
              <a:spcBef>
                <a:spcPts val="0"/>
              </a:spcBef>
              <a:buSzPct val="100000"/>
              <a:defRPr sz="4200"/>
            </a:lvl3pPr>
            <a:lvl4pPr lvl="3" algn="ctr" rtl="0">
              <a:spcBef>
                <a:spcPts val="0"/>
              </a:spcBef>
              <a:buSzPct val="100000"/>
              <a:defRPr sz="4200"/>
            </a:lvl4pPr>
            <a:lvl5pPr lvl="4" algn="ctr" rtl="0">
              <a:spcBef>
                <a:spcPts val="0"/>
              </a:spcBef>
              <a:buSzPct val="100000"/>
              <a:defRPr sz="4200"/>
            </a:lvl5pPr>
            <a:lvl6pPr lvl="5" algn="ctr" rtl="0">
              <a:spcBef>
                <a:spcPts val="0"/>
              </a:spcBef>
              <a:buSzPct val="100000"/>
              <a:defRPr sz="4200"/>
            </a:lvl6pPr>
            <a:lvl7pPr lvl="6" algn="ctr" rtl="0">
              <a:spcBef>
                <a:spcPts val="0"/>
              </a:spcBef>
              <a:buSzPct val="100000"/>
              <a:defRPr sz="4200"/>
            </a:lvl7pPr>
            <a:lvl8pPr lvl="7" algn="ctr" rtl="0">
              <a:spcBef>
                <a:spcPts val="0"/>
              </a:spcBef>
              <a:buSzPct val="100000"/>
              <a:defRPr sz="4200"/>
            </a:lvl8pPr>
            <a:lvl9pPr lvl="8" algn="ctr" rtl="0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313582" y="4120005"/>
            <a:ext cx="4777800" cy="1815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5834055" y="1064257"/>
            <a:ext cx="4531800" cy="54312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68149" y="6218167"/>
            <a:ext cx="7085100" cy="8892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68149" y="1625800"/>
            <a:ext cx="10063800" cy="28860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defRPr sz="12000"/>
            </a:lvl1pPr>
            <a:lvl2pPr lvl="1" algn="ctr" rtl="0">
              <a:spcBef>
                <a:spcPts val="0"/>
              </a:spcBef>
              <a:buSzPct val="100000"/>
              <a:defRPr sz="12000"/>
            </a:lvl2pPr>
            <a:lvl3pPr lvl="2" algn="ctr" rtl="0">
              <a:spcBef>
                <a:spcPts val="0"/>
              </a:spcBef>
              <a:buSzPct val="100000"/>
              <a:defRPr sz="12000"/>
            </a:lvl3pPr>
            <a:lvl4pPr lvl="3" algn="ctr" rtl="0">
              <a:spcBef>
                <a:spcPts val="0"/>
              </a:spcBef>
              <a:buSzPct val="100000"/>
              <a:defRPr sz="12000"/>
            </a:lvl4pPr>
            <a:lvl5pPr lvl="4" algn="ctr" rtl="0">
              <a:spcBef>
                <a:spcPts val="0"/>
              </a:spcBef>
              <a:buSzPct val="100000"/>
              <a:defRPr sz="12000"/>
            </a:lvl5pPr>
            <a:lvl6pPr lvl="5" algn="ctr" rtl="0">
              <a:spcBef>
                <a:spcPts val="0"/>
              </a:spcBef>
              <a:buSzPct val="100000"/>
              <a:defRPr sz="12000"/>
            </a:lvl6pPr>
            <a:lvl7pPr lvl="6" algn="ctr" rtl="0">
              <a:spcBef>
                <a:spcPts val="0"/>
              </a:spcBef>
              <a:buSzPct val="100000"/>
              <a:defRPr sz="12000"/>
            </a:lvl7pPr>
            <a:lvl8pPr lvl="7" algn="ctr" rtl="0">
              <a:spcBef>
                <a:spcPts val="0"/>
              </a:spcBef>
              <a:buSzPct val="100000"/>
              <a:defRPr sz="12000"/>
            </a:lvl8pPr>
            <a:lvl9pPr lvl="8" algn="ctr" rtl="0">
              <a:spcBef>
                <a:spcPts val="0"/>
              </a:spcBef>
              <a:buSzPct val="100000"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68149" y="4633191"/>
            <a:ext cx="10063800" cy="19119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spcBef>
                <a:spcPts val="0"/>
              </a:spcBef>
              <a:defRPr/>
            </a:lvl1pPr>
            <a:lvl2pPr lvl="1" algn="ctr" rtl="0">
              <a:spcBef>
                <a:spcPts val="0"/>
              </a:spcBef>
              <a:defRPr/>
            </a:lvl2pPr>
            <a:lvl3pPr lvl="2" algn="ctr" rtl="0">
              <a:spcBef>
                <a:spcPts val="0"/>
              </a:spcBef>
              <a:defRPr/>
            </a:lvl3pPr>
            <a:lvl4pPr lvl="3" algn="ctr" rtl="0">
              <a:spcBef>
                <a:spcPts val="0"/>
              </a:spcBef>
              <a:defRPr/>
            </a:lvl4pPr>
            <a:lvl5pPr lvl="4" algn="ctr" rtl="0">
              <a:spcBef>
                <a:spcPts val="0"/>
              </a:spcBef>
              <a:defRPr/>
            </a:lvl5pPr>
            <a:lvl6pPr lvl="5" algn="ctr" rtl="0">
              <a:spcBef>
                <a:spcPts val="0"/>
              </a:spcBef>
              <a:defRPr/>
            </a:lvl6pPr>
            <a:lvl7pPr lvl="6" algn="ctr" rtl="0">
              <a:spcBef>
                <a:spcPts val="0"/>
              </a:spcBef>
              <a:defRPr/>
            </a:lvl7pPr>
            <a:lvl8pPr lvl="7" algn="ctr" rtl="0">
              <a:spcBef>
                <a:spcPts val="0"/>
              </a:spcBef>
              <a:defRPr/>
            </a:lvl8pPr>
            <a:lvl9pPr lvl="8" algn="ctr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68149" y="654104"/>
            <a:ext cx="10063800" cy="841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68149" y="1693926"/>
            <a:ext cx="10063800" cy="5021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Char char="●"/>
              <a:defRPr sz="1800">
                <a:solidFill>
                  <a:schemeClr val="dk2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10006839" y="6854071"/>
            <a:ext cx="648000" cy="578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</a:rPr>
              <a:t>‹nº›</a:t>
            </a:fld>
            <a:endParaRPr lang="pt-BR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/>
        </p:nvSpPr>
        <p:spPr>
          <a:xfrm>
            <a:off x="4270531" y="2324583"/>
            <a:ext cx="2258700" cy="360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PREFEITO MUNICIPAL</a:t>
            </a:r>
          </a:p>
        </p:txBody>
      </p:sp>
      <p:sp>
        <p:nvSpPr>
          <p:cNvPr id="55" name="Shape 55"/>
          <p:cNvSpPr txBox="1"/>
          <p:nvPr/>
        </p:nvSpPr>
        <p:spPr>
          <a:xfrm>
            <a:off x="537546" y="1185203"/>
            <a:ext cx="9744623" cy="85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 dirty="0"/>
              <a:t>ORGANOGRAMA DA ESTRUTURA ORGANIZACIONAL DO MUNICÍPIO DE GUARAPARI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pt-BR" sz="1800" b="1" dirty="0"/>
              <a:t>LEI COMPLEMENTAR Nº 102/2017</a:t>
            </a:r>
          </a:p>
        </p:txBody>
      </p:sp>
      <p:sp>
        <p:nvSpPr>
          <p:cNvPr id="58" name="Shape 58"/>
          <p:cNvSpPr/>
          <p:nvPr/>
        </p:nvSpPr>
        <p:spPr>
          <a:xfrm>
            <a:off x="2011831" y="3605182"/>
            <a:ext cx="2258700" cy="360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GABINETE DO PREFEITO</a:t>
            </a:r>
          </a:p>
        </p:txBody>
      </p:sp>
      <p:sp>
        <p:nvSpPr>
          <p:cNvPr id="59" name="Shape 59"/>
          <p:cNvSpPr/>
          <p:nvPr/>
        </p:nvSpPr>
        <p:spPr>
          <a:xfrm>
            <a:off x="2011831" y="4141562"/>
            <a:ext cx="2258700" cy="56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IPG - INSTITUTO DE PREVIDÊNCIA DE GUARAPARI</a:t>
            </a:r>
          </a:p>
        </p:txBody>
      </p:sp>
      <p:sp>
        <p:nvSpPr>
          <p:cNvPr id="60" name="Shape 60"/>
          <p:cNvSpPr/>
          <p:nvPr/>
        </p:nvSpPr>
        <p:spPr>
          <a:xfrm>
            <a:off x="6584181" y="3484532"/>
            <a:ext cx="2258700" cy="360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CODEG</a:t>
            </a:r>
          </a:p>
        </p:txBody>
      </p:sp>
      <p:sp>
        <p:nvSpPr>
          <p:cNvPr id="61" name="Shape 61"/>
          <p:cNvSpPr/>
          <p:nvPr/>
        </p:nvSpPr>
        <p:spPr>
          <a:xfrm>
            <a:off x="6584181" y="3965782"/>
            <a:ext cx="2258700" cy="360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CONTROLADORIA GERAL DO MUNICÍPIO</a:t>
            </a:r>
          </a:p>
        </p:txBody>
      </p:sp>
      <p:sp>
        <p:nvSpPr>
          <p:cNvPr id="62" name="Shape 62"/>
          <p:cNvSpPr/>
          <p:nvPr/>
        </p:nvSpPr>
        <p:spPr>
          <a:xfrm>
            <a:off x="6584181" y="4442419"/>
            <a:ext cx="2258700" cy="360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PROCURADORIA GERAL DO MUNICÍPIO - PGM</a:t>
            </a:r>
          </a:p>
        </p:txBody>
      </p:sp>
      <p:cxnSp>
        <p:nvCxnSpPr>
          <p:cNvPr id="63" name="Shape 63"/>
          <p:cNvCxnSpPr/>
          <p:nvPr/>
        </p:nvCxnSpPr>
        <p:spPr>
          <a:xfrm>
            <a:off x="5399881" y="2685183"/>
            <a:ext cx="900" cy="2282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4" name="Shape 64"/>
          <p:cNvSpPr/>
          <p:nvPr/>
        </p:nvSpPr>
        <p:spPr>
          <a:xfrm>
            <a:off x="4270531" y="2881082"/>
            <a:ext cx="2258700" cy="360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VICE-PREFEITO</a:t>
            </a:r>
          </a:p>
        </p:txBody>
      </p:sp>
      <p:cxnSp>
        <p:nvCxnSpPr>
          <p:cNvPr id="65" name="Shape 65"/>
          <p:cNvCxnSpPr/>
          <p:nvPr/>
        </p:nvCxnSpPr>
        <p:spPr>
          <a:xfrm>
            <a:off x="4270531" y="3785482"/>
            <a:ext cx="1142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6" name="Shape 66"/>
          <p:cNvCxnSpPr>
            <a:stCxn id="60" idx="1"/>
          </p:cNvCxnSpPr>
          <p:nvPr/>
        </p:nvCxnSpPr>
        <p:spPr>
          <a:xfrm rot="10800000">
            <a:off x="5421381" y="3664832"/>
            <a:ext cx="116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7" name="Shape 67"/>
          <p:cNvCxnSpPr>
            <a:stCxn id="59" idx="3"/>
          </p:cNvCxnSpPr>
          <p:nvPr/>
        </p:nvCxnSpPr>
        <p:spPr>
          <a:xfrm>
            <a:off x="4270531" y="4424462"/>
            <a:ext cx="1142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8" name="Shape 68"/>
          <p:cNvCxnSpPr>
            <a:stCxn id="61" idx="1"/>
          </p:cNvCxnSpPr>
          <p:nvPr/>
        </p:nvCxnSpPr>
        <p:spPr>
          <a:xfrm rot="10800000">
            <a:off x="5412681" y="4146082"/>
            <a:ext cx="117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9" name="Shape 69"/>
          <p:cNvCxnSpPr>
            <a:stCxn id="62" idx="1"/>
          </p:cNvCxnSpPr>
          <p:nvPr/>
        </p:nvCxnSpPr>
        <p:spPr>
          <a:xfrm rot="10800000">
            <a:off x="5404281" y="4622719"/>
            <a:ext cx="117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0" name="Shape 70"/>
          <p:cNvSpPr/>
          <p:nvPr/>
        </p:nvSpPr>
        <p:spPr>
          <a:xfrm rot="-5400000">
            <a:off x="316139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 dirty="0"/>
              <a:t>SECRETARIA MUNICIPAL DA ADMINISTRAÇÃO E GESTÃO DE RECURSOS HUMANOS - SEMAD </a:t>
            </a:r>
          </a:p>
        </p:txBody>
      </p:sp>
      <p:sp>
        <p:nvSpPr>
          <p:cNvPr id="71" name="Shape 71"/>
          <p:cNvSpPr/>
          <p:nvPr/>
        </p:nvSpPr>
        <p:spPr>
          <a:xfrm rot="-5400000">
            <a:off x="1200131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SECRETARIA MUNICIPAL DA FAZENDA - SEMFA</a:t>
            </a:r>
          </a:p>
        </p:txBody>
      </p:sp>
      <p:sp>
        <p:nvSpPr>
          <p:cNvPr id="72" name="Shape 72"/>
          <p:cNvSpPr/>
          <p:nvPr/>
        </p:nvSpPr>
        <p:spPr>
          <a:xfrm rot="-5400000">
            <a:off x="2038973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SECRETARIA  MUNICIPAL DA EDUCAÇÃO - SEMED</a:t>
            </a:r>
          </a:p>
        </p:txBody>
      </p:sp>
      <p:sp>
        <p:nvSpPr>
          <p:cNvPr id="73" name="Shape 73"/>
          <p:cNvSpPr/>
          <p:nvPr/>
        </p:nvSpPr>
        <p:spPr>
          <a:xfrm rot="-5400000">
            <a:off x="2805557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SECRETARIA  MUNICIPAL DA SAÚDE - SEMSA</a:t>
            </a:r>
          </a:p>
        </p:txBody>
      </p:sp>
      <p:sp>
        <p:nvSpPr>
          <p:cNvPr id="74" name="Shape 74"/>
          <p:cNvSpPr/>
          <p:nvPr/>
        </p:nvSpPr>
        <p:spPr>
          <a:xfrm rot="-5400000">
            <a:off x="3581173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SECRETARIA  MUNICIPAL DO TRABALHO ASSISTÊNCIA E CIDADANIA - SETAC</a:t>
            </a:r>
          </a:p>
        </p:txBody>
      </p:sp>
      <p:sp>
        <p:nvSpPr>
          <p:cNvPr id="75" name="Shape 75"/>
          <p:cNvSpPr/>
          <p:nvPr/>
        </p:nvSpPr>
        <p:spPr>
          <a:xfrm rot="-5400000">
            <a:off x="4356789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SECRETARIA  MUNICIPAL DE TURISMO E CULTURA - SETEC</a:t>
            </a:r>
          </a:p>
        </p:txBody>
      </p:sp>
      <p:sp>
        <p:nvSpPr>
          <p:cNvPr id="76" name="Shape 76"/>
          <p:cNvSpPr/>
          <p:nvPr/>
        </p:nvSpPr>
        <p:spPr>
          <a:xfrm rot="-5400000">
            <a:off x="5114341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 dirty="0"/>
              <a:t>SECRETARIA  MUNICIPAL DO MEIO AMBIENTE E AGRICULTURA - SEMAG</a:t>
            </a:r>
          </a:p>
        </p:txBody>
      </p:sp>
      <p:sp>
        <p:nvSpPr>
          <p:cNvPr id="77" name="Shape 77"/>
          <p:cNvSpPr/>
          <p:nvPr/>
        </p:nvSpPr>
        <p:spPr>
          <a:xfrm rot="-5400000">
            <a:off x="5835763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SECRETARIA  MUNICIPAL DE ESPORTE E LAZER - SEL</a:t>
            </a:r>
          </a:p>
        </p:txBody>
      </p:sp>
      <p:sp>
        <p:nvSpPr>
          <p:cNvPr id="78" name="Shape 78"/>
          <p:cNvSpPr/>
          <p:nvPr/>
        </p:nvSpPr>
        <p:spPr>
          <a:xfrm rot="-5400000">
            <a:off x="6584283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SECRETARIA  MUNICIPAL DE OBRAS PÚBLICAS - SEMOP</a:t>
            </a:r>
          </a:p>
        </p:txBody>
      </p:sp>
      <p:sp>
        <p:nvSpPr>
          <p:cNvPr id="79" name="Shape 79"/>
          <p:cNvSpPr/>
          <p:nvPr/>
        </p:nvSpPr>
        <p:spPr>
          <a:xfrm rot="-5400000">
            <a:off x="7359899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SECRETARIA  MUNICIPAL DE ANÁLISE E APROVAÇÃO DE PROJETOS - SEMAP</a:t>
            </a:r>
          </a:p>
        </p:txBody>
      </p:sp>
      <p:sp>
        <p:nvSpPr>
          <p:cNvPr id="80" name="Shape 80"/>
          <p:cNvSpPr/>
          <p:nvPr/>
        </p:nvSpPr>
        <p:spPr>
          <a:xfrm rot="-5400000">
            <a:off x="8135515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SECRETARIA  MUNICIPAL DE POSTURA E TRÂNSITO - SEPTRAN</a:t>
            </a:r>
          </a:p>
        </p:txBody>
      </p:sp>
      <p:sp>
        <p:nvSpPr>
          <p:cNvPr id="81" name="Shape 81"/>
          <p:cNvSpPr/>
          <p:nvPr/>
        </p:nvSpPr>
        <p:spPr>
          <a:xfrm rot="-5400000">
            <a:off x="8875002" y="5763692"/>
            <a:ext cx="1688700" cy="543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SECRETARIA  MUNICIPAL DE COMUNICAÇÃO SOCIAL -SEMCOS</a:t>
            </a:r>
          </a:p>
        </p:txBody>
      </p:sp>
      <p:cxnSp>
        <p:nvCxnSpPr>
          <p:cNvPr id="82" name="Shape 82"/>
          <p:cNvCxnSpPr>
            <a:stCxn id="70" idx="3"/>
            <a:endCxn id="81" idx="3"/>
          </p:cNvCxnSpPr>
          <p:nvPr/>
        </p:nvCxnSpPr>
        <p:spPr>
          <a:xfrm rot="-5400000" flipH="1">
            <a:off x="5439689" y="911642"/>
            <a:ext cx="600" cy="8559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3" name="Shape 83"/>
          <p:cNvCxnSpPr>
            <a:stCxn id="71" idx="3"/>
          </p:cNvCxnSpPr>
          <p:nvPr/>
        </p:nvCxnSpPr>
        <p:spPr>
          <a:xfrm rot="10800000">
            <a:off x="2044481" y="4944542"/>
            <a:ext cx="0" cy="24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4" name="Shape 84"/>
          <p:cNvCxnSpPr/>
          <p:nvPr/>
        </p:nvCxnSpPr>
        <p:spPr>
          <a:xfrm rot="10800000">
            <a:off x="2883323" y="4966742"/>
            <a:ext cx="0" cy="22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5" name="Shape 85"/>
          <p:cNvCxnSpPr>
            <a:stCxn id="73" idx="3"/>
          </p:cNvCxnSpPr>
          <p:nvPr/>
        </p:nvCxnSpPr>
        <p:spPr>
          <a:xfrm rot="10800000">
            <a:off x="3649907" y="4952042"/>
            <a:ext cx="0" cy="23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6" name="Shape 86"/>
          <p:cNvCxnSpPr>
            <a:stCxn id="74" idx="3"/>
          </p:cNvCxnSpPr>
          <p:nvPr/>
        </p:nvCxnSpPr>
        <p:spPr>
          <a:xfrm rot="10800000">
            <a:off x="4425523" y="4955642"/>
            <a:ext cx="0" cy="23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7" name="Shape 87"/>
          <p:cNvCxnSpPr>
            <a:stCxn id="75" idx="3"/>
          </p:cNvCxnSpPr>
          <p:nvPr/>
        </p:nvCxnSpPr>
        <p:spPr>
          <a:xfrm rot="10800000">
            <a:off x="5201139" y="4959242"/>
            <a:ext cx="0" cy="23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8" name="Shape 88"/>
          <p:cNvCxnSpPr/>
          <p:nvPr/>
        </p:nvCxnSpPr>
        <p:spPr>
          <a:xfrm rot="10800000">
            <a:off x="5958691" y="4962842"/>
            <a:ext cx="0" cy="22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9" name="Shape 89"/>
          <p:cNvCxnSpPr>
            <a:stCxn id="77" idx="3"/>
          </p:cNvCxnSpPr>
          <p:nvPr/>
        </p:nvCxnSpPr>
        <p:spPr>
          <a:xfrm rot="10800000">
            <a:off x="6680113" y="4955642"/>
            <a:ext cx="0" cy="23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0" name="Shape 90"/>
          <p:cNvCxnSpPr>
            <a:stCxn id="78" idx="3"/>
          </p:cNvCxnSpPr>
          <p:nvPr/>
        </p:nvCxnSpPr>
        <p:spPr>
          <a:xfrm rot="10800000">
            <a:off x="7428633" y="4952042"/>
            <a:ext cx="0" cy="23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1" name="Shape 91"/>
          <p:cNvCxnSpPr>
            <a:stCxn id="79" idx="3"/>
          </p:cNvCxnSpPr>
          <p:nvPr/>
        </p:nvCxnSpPr>
        <p:spPr>
          <a:xfrm rot="10800000">
            <a:off x="8204249" y="4955642"/>
            <a:ext cx="0" cy="23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2" name="Shape 92"/>
          <p:cNvCxnSpPr>
            <a:stCxn id="80" idx="3"/>
          </p:cNvCxnSpPr>
          <p:nvPr/>
        </p:nvCxnSpPr>
        <p:spPr>
          <a:xfrm rot="10800000">
            <a:off x="8979865" y="4962842"/>
            <a:ext cx="0" cy="22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45" name="Imagem 44"/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4207750" y="1654960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GABINETE DO PREFEITO</a:t>
            </a:r>
          </a:p>
        </p:txBody>
      </p:sp>
      <p:sp>
        <p:nvSpPr>
          <p:cNvPr id="106" name="Shape 106"/>
          <p:cNvSpPr txBox="1"/>
          <p:nvPr/>
        </p:nvSpPr>
        <p:spPr>
          <a:xfrm>
            <a:off x="692300" y="1167724"/>
            <a:ext cx="9126300" cy="449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GABINETE DO PREFEITO - GP</a:t>
            </a:r>
          </a:p>
        </p:txBody>
      </p:sp>
      <p:sp>
        <p:nvSpPr>
          <p:cNvPr id="108" name="Shape 108"/>
          <p:cNvSpPr/>
          <p:nvPr/>
        </p:nvSpPr>
        <p:spPr>
          <a:xfrm>
            <a:off x="1275665" y="5859379"/>
            <a:ext cx="2258700" cy="55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SUPERVISÃO DE RELAÇÕES INSTITUCIONAIS</a:t>
            </a:r>
          </a:p>
        </p:txBody>
      </p:sp>
      <p:sp>
        <p:nvSpPr>
          <p:cNvPr id="109" name="Shape 109"/>
          <p:cNvSpPr/>
          <p:nvPr/>
        </p:nvSpPr>
        <p:spPr>
          <a:xfrm>
            <a:off x="6747408" y="5683022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GERÊNCIA ADMINISTRATIVA</a:t>
            </a:r>
          </a:p>
        </p:txBody>
      </p:sp>
      <p:cxnSp>
        <p:nvCxnSpPr>
          <p:cNvPr id="110" name="Shape 110"/>
          <p:cNvCxnSpPr>
            <a:stCxn id="105" idx="2"/>
          </p:cNvCxnSpPr>
          <p:nvPr/>
        </p:nvCxnSpPr>
        <p:spPr>
          <a:xfrm>
            <a:off x="5337100" y="2211460"/>
            <a:ext cx="900" cy="3249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1" name="Shape 111"/>
          <p:cNvSpPr/>
          <p:nvPr/>
        </p:nvSpPr>
        <p:spPr>
          <a:xfrm>
            <a:off x="6639675" y="2306298"/>
            <a:ext cx="2258700" cy="55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VICE-PREFEITO</a:t>
            </a:r>
          </a:p>
        </p:txBody>
      </p:sp>
      <p:sp>
        <p:nvSpPr>
          <p:cNvPr id="112" name="Shape 112"/>
          <p:cNvSpPr/>
          <p:nvPr/>
        </p:nvSpPr>
        <p:spPr>
          <a:xfrm>
            <a:off x="4207737" y="2862798"/>
            <a:ext cx="2258700" cy="55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SECRETÁRIO CHEFE DE GABINETE</a:t>
            </a:r>
          </a:p>
        </p:txBody>
      </p:sp>
      <p:cxnSp>
        <p:nvCxnSpPr>
          <p:cNvPr id="113" name="Shape 113"/>
          <p:cNvCxnSpPr>
            <a:cxnSpLocks/>
          </p:cNvCxnSpPr>
          <p:nvPr/>
        </p:nvCxnSpPr>
        <p:spPr>
          <a:xfrm>
            <a:off x="2296732" y="5473766"/>
            <a:ext cx="5343684" cy="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4" name="Shape 114"/>
          <p:cNvCxnSpPr>
            <a:stCxn id="115" idx="2"/>
          </p:cNvCxnSpPr>
          <p:nvPr/>
        </p:nvCxnSpPr>
        <p:spPr>
          <a:xfrm>
            <a:off x="5343391" y="647501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6" name="Shape 116"/>
          <p:cNvSpPr/>
          <p:nvPr/>
        </p:nvSpPr>
        <p:spPr>
          <a:xfrm>
            <a:off x="1585800" y="2304198"/>
            <a:ext cx="2258700" cy="55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CONSELHO MUNICIPAL DE SEGURANÇA PÚBLICA</a:t>
            </a:r>
          </a:p>
        </p:txBody>
      </p:sp>
      <p:sp>
        <p:nvSpPr>
          <p:cNvPr id="117" name="Shape 117"/>
          <p:cNvSpPr/>
          <p:nvPr/>
        </p:nvSpPr>
        <p:spPr>
          <a:xfrm>
            <a:off x="1612550" y="3781348"/>
            <a:ext cx="2258700" cy="55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SECRETÁRIO ADJUNTO</a:t>
            </a:r>
          </a:p>
        </p:txBody>
      </p:sp>
      <p:sp>
        <p:nvSpPr>
          <p:cNvPr id="118" name="Shape 118"/>
          <p:cNvSpPr/>
          <p:nvPr/>
        </p:nvSpPr>
        <p:spPr>
          <a:xfrm>
            <a:off x="1612550" y="4732185"/>
            <a:ext cx="2258700" cy="55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ASSESSORIA TÉCNICA ESPECIAL</a:t>
            </a:r>
          </a:p>
        </p:txBody>
      </p:sp>
      <p:sp>
        <p:nvSpPr>
          <p:cNvPr id="119" name="Shape 119"/>
          <p:cNvSpPr/>
          <p:nvPr/>
        </p:nvSpPr>
        <p:spPr>
          <a:xfrm>
            <a:off x="6747408" y="6470320"/>
            <a:ext cx="2258700" cy="660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SUBGERÊNCIA DA JUNTA DE SERVIÇO MILITAR</a:t>
            </a:r>
          </a:p>
        </p:txBody>
      </p:sp>
      <p:cxnSp>
        <p:nvCxnSpPr>
          <p:cNvPr id="120" name="Shape 120"/>
          <p:cNvCxnSpPr>
            <a:stCxn id="111" idx="1"/>
          </p:cNvCxnSpPr>
          <p:nvPr/>
        </p:nvCxnSpPr>
        <p:spPr>
          <a:xfrm rot="10800000">
            <a:off x="5361375" y="2580348"/>
            <a:ext cx="1278300" cy="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1" name="Shape 121"/>
          <p:cNvCxnSpPr>
            <a:endCxn id="116" idx="3"/>
          </p:cNvCxnSpPr>
          <p:nvPr/>
        </p:nvCxnSpPr>
        <p:spPr>
          <a:xfrm flipH="1">
            <a:off x="3844500" y="2578848"/>
            <a:ext cx="1492200" cy="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cxnSp>
        <p:nvCxnSpPr>
          <p:cNvPr id="122" name="Shape 122"/>
          <p:cNvCxnSpPr/>
          <p:nvPr/>
        </p:nvCxnSpPr>
        <p:spPr>
          <a:xfrm>
            <a:off x="3871250" y="4059598"/>
            <a:ext cx="1490100" cy="1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3" name="Shape 123"/>
          <p:cNvCxnSpPr>
            <a:stCxn id="118" idx="3"/>
          </p:cNvCxnSpPr>
          <p:nvPr/>
        </p:nvCxnSpPr>
        <p:spPr>
          <a:xfrm>
            <a:off x="3871250" y="5010435"/>
            <a:ext cx="1476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4" name="Shape 124"/>
          <p:cNvCxnSpPr>
            <a:stCxn id="109" idx="2"/>
            <a:endCxn id="119" idx="0"/>
          </p:cNvCxnSpPr>
          <p:nvPr/>
        </p:nvCxnSpPr>
        <p:spPr>
          <a:xfrm>
            <a:off x="7876758" y="6239522"/>
            <a:ext cx="0" cy="23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F7FAEBA7-2B41-FAAA-E272-B2BC6B465F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944EFA7-290A-ACB2-F0DC-CF59A00F2885}"/>
              </a:ext>
            </a:extLst>
          </p:cNvPr>
          <p:cNvCxnSpPr>
            <a:cxnSpLocks/>
          </p:cNvCxnSpPr>
          <p:nvPr/>
        </p:nvCxnSpPr>
        <p:spPr>
          <a:xfrm>
            <a:off x="2296732" y="5461060"/>
            <a:ext cx="0" cy="3983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218AFD6-5020-47E7-9B74-9BD0DD71C442}"/>
              </a:ext>
            </a:extLst>
          </p:cNvPr>
          <p:cNvCxnSpPr>
            <a:cxnSpLocks/>
          </p:cNvCxnSpPr>
          <p:nvPr/>
        </p:nvCxnSpPr>
        <p:spPr>
          <a:xfrm>
            <a:off x="5226077" y="5483862"/>
            <a:ext cx="0" cy="3983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hape 108">
            <a:extLst>
              <a:ext uri="{FF2B5EF4-FFF2-40B4-BE49-F238E27FC236}">
                <a16:creationId xmlns:a16="http://schemas.microsoft.com/office/drawing/2014/main" id="{FACE706F-6D60-7547-5CD1-63E19D51B8E8}"/>
              </a:ext>
            </a:extLst>
          </p:cNvPr>
          <p:cNvSpPr/>
          <p:nvPr/>
        </p:nvSpPr>
        <p:spPr>
          <a:xfrm>
            <a:off x="4096727" y="5882181"/>
            <a:ext cx="2258700" cy="55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SUPERVISÃO DE ATOS OFICIAIS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C37CFB4-2E88-5663-C25C-F2F620D570BC}"/>
              </a:ext>
            </a:extLst>
          </p:cNvPr>
          <p:cNvCxnSpPr>
            <a:cxnSpLocks/>
          </p:cNvCxnSpPr>
          <p:nvPr/>
        </p:nvCxnSpPr>
        <p:spPr>
          <a:xfrm>
            <a:off x="7640414" y="5473766"/>
            <a:ext cx="2" cy="2092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/>
        </p:nvSpPr>
        <p:spPr>
          <a:xfrm>
            <a:off x="4125448" y="1995925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PROCURADOR GERAL DO MUNICÍPIO</a:t>
            </a:r>
          </a:p>
        </p:txBody>
      </p:sp>
      <p:sp>
        <p:nvSpPr>
          <p:cNvPr id="137" name="Shape 137"/>
          <p:cNvSpPr txBox="1"/>
          <p:nvPr/>
        </p:nvSpPr>
        <p:spPr>
          <a:xfrm>
            <a:off x="692304" y="1308812"/>
            <a:ext cx="9126300" cy="8585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PROCURADORIA GERAL DO MUNICÍPIO - PGM</a:t>
            </a:r>
          </a:p>
        </p:txBody>
      </p:sp>
      <p:sp>
        <p:nvSpPr>
          <p:cNvPr id="139" name="Shape 139"/>
          <p:cNvSpPr/>
          <p:nvPr/>
        </p:nvSpPr>
        <p:spPr>
          <a:xfrm>
            <a:off x="845737" y="1995925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COLEGIADO</a:t>
            </a:r>
          </a:p>
        </p:txBody>
      </p:sp>
      <p:sp>
        <p:nvSpPr>
          <p:cNvPr id="140" name="Shape 140"/>
          <p:cNvSpPr/>
          <p:nvPr/>
        </p:nvSpPr>
        <p:spPr>
          <a:xfrm>
            <a:off x="7288112" y="2552352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COMISSÃO DE PROCESSO ADMINISTRATIVO DISCIPLINAR - COMPRAD</a:t>
            </a:r>
          </a:p>
        </p:txBody>
      </p:sp>
      <p:sp>
        <p:nvSpPr>
          <p:cNvPr id="142" name="Shape 142"/>
          <p:cNvSpPr/>
          <p:nvPr/>
        </p:nvSpPr>
        <p:spPr>
          <a:xfrm>
            <a:off x="4126127" y="4601348"/>
            <a:ext cx="2258700" cy="792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SUPERVISÃO DO PROCON</a:t>
            </a:r>
          </a:p>
        </p:txBody>
      </p:sp>
      <p:sp>
        <p:nvSpPr>
          <p:cNvPr id="144" name="Shape 144"/>
          <p:cNvSpPr/>
          <p:nvPr/>
        </p:nvSpPr>
        <p:spPr>
          <a:xfrm>
            <a:off x="4126127" y="5785266"/>
            <a:ext cx="2258700" cy="79199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GERÊNCIA DOS DIREITOS E DEFESA DO CONSUMIDOR</a:t>
            </a:r>
          </a:p>
        </p:txBody>
      </p:sp>
      <p:sp>
        <p:nvSpPr>
          <p:cNvPr id="145" name="Shape 145"/>
          <p:cNvSpPr/>
          <p:nvPr/>
        </p:nvSpPr>
        <p:spPr>
          <a:xfrm>
            <a:off x="7405048" y="4601348"/>
            <a:ext cx="2258700" cy="7919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GERÊNCIA ADMINISTRATIVA</a:t>
            </a:r>
          </a:p>
        </p:txBody>
      </p:sp>
      <p:cxnSp>
        <p:nvCxnSpPr>
          <p:cNvPr id="146" name="Shape 146"/>
          <p:cNvCxnSpPr>
            <a:cxnSpLocks/>
            <a:stCxn id="136" idx="2"/>
          </p:cNvCxnSpPr>
          <p:nvPr/>
        </p:nvCxnSpPr>
        <p:spPr>
          <a:xfrm rot="5400000">
            <a:off x="2590498" y="1937125"/>
            <a:ext cx="2049000" cy="32796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cxnSp>
        <p:nvCxnSpPr>
          <p:cNvPr id="147" name="Shape 147"/>
          <p:cNvCxnSpPr>
            <a:cxnSpLocks/>
            <a:stCxn id="136" idx="2"/>
          </p:cNvCxnSpPr>
          <p:nvPr/>
        </p:nvCxnSpPr>
        <p:spPr>
          <a:xfrm rot="-5400000" flipH="1">
            <a:off x="5870848" y="1936375"/>
            <a:ext cx="2049000" cy="3281099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cxnSp>
        <p:nvCxnSpPr>
          <p:cNvPr id="148" name="Shape 148"/>
          <p:cNvCxnSpPr>
            <a:stCxn id="136" idx="2"/>
            <a:endCxn id="142" idx="0"/>
          </p:cNvCxnSpPr>
          <p:nvPr/>
        </p:nvCxnSpPr>
        <p:spPr>
          <a:xfrm>
            <a:off x="5254798" y="2552425"/>
            <a:ext cx="600" cy="2049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cxnSp>
        <p:nvCxnSpPr>
          <p:cNvPr id="149" name="Shape 149"/>
          <p:cNvCxnSpPr>
            <a:stCxn id="140" idx="1"/>
          </p:cNvCxnSpPr>
          <p:nvPr/>
        </p:nvCxnSpPr>
        <p:spPr>
          <a:xfrm flipH="1">
            <a:off x="5234012" y="2830602"/>
            <a:ext cx="2054100" cy="5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stealth" w="lg" len="lg"/>
            <a:tailEnd type="none" w="lg" len="lg"/>
          </a:ln>
        </p:spPr>
      </p:cxnSp>
      <p:cxnSp>
        <p:nvCxnSpPr>
          <p:cNvPr id="150" name="Shape 150"/>
          <p:cNvCxnSpPr>
            <a:stCxn id="139" idx="3"/>
            <a:endCxn id="136" idx="1"/>
          </p:cNvCxnSpPr>
          <p:nvPr/>
        </p:nvCxnSpPr>
        <p:spPr>
          <a:xfrm>
            <a:off x="3104437" y="2274175"/>
            <a:ext cx="1020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stealth" w="lg" len="lg"/>
            <a:tailEnd type="none" w="lg" len="lg"/>
          </a:ln>
        </p:spPr>
      </p:cxnSp>
      <p:cxnSp>
        <p:nvCxnSpPr>
          <p:cNvPr id="151" name="Shape 151"/>
          <p:cNvCxnSpPr>
            <a:stCxn id="142" idx="2"/>
            <a:endCxn id="144" idx="0"/>
          </p:cNvCxnSpPr>
          <p:nvPr/>
        </p:nvCxnSpPr>
        <p:spPr>
          <a:xfrm>
            <a:off x="5255477" y="5393348"/>
            <a:ext cx="0" cy="391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153" name="Shape 153"/>
          <p:cNvSpPr/>
          <p:nvPr/>
        </p:nvSpPr>
        <p:spPr>
          <a:xfrm>
            <a:off x="845737" y="2790475"/>
            <a:ext cx="2258700" cy="55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 dirty="0"/>
              <a:t>CONSELHO MUNICIPAL DE DEFESA DO CONSUMIDOR</a:t>
            </a:r>
          </a:p>
        </p:txBody>
      </p:sp>
      <p:cxnSp>
        <p:nvCxnSpPr>
          <p:cNvPr id="154" name="Shape 154"/>
          <p:cNvCxnSpPr>
            <a:stCxn id="153" idx="3"/>
          </p:cNvCxnSpPr>
          <p:nvPr/>
        </p:nvCxnSpPr>
        <p:spPr>
          <a:xfrm>
            <a:off x="3104437" y="3068725"/>
            <a:ext cx="2149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stealth" w="lg" len="lg"/>
            <a:tailEnd type="none" w="lg" len="lg"/>
          </a:ln>
        </p:spPr>
      </p:cxnSp>
      <p:sp>
        <p:nvSpPr>
          <p:cNvPr id="155" name="Shape 155"/>
          <p:cNvSpPr/>
          <p:nvPr/>
        </p:nvSpPr>
        <p:spPr>
          <a:xfrm>
            <a:off x="845737" y="4632079"/>
            <a:ext cx="2258700" cy="910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GERÊNCIA DE ATOS ADMINISTRATIVOS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087" y="246591"/>
            <a:ext cx="1895475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/>
        </p:nvSpPr>
        <p:spPr>
          <a:xfrm>
            <a:off x="4001623" y="2386450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169" name="Shape 169"/>
          <p:cNvSpPr txBox="1"/>
          <p:nvPr/>
        </p:nvSpPr>
        <p:spPr>
          <a:xfrm>
            <a:off x="692304" y="1308812"/>
            <a:ext cx="9126300" cy="8585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DE COMUNICAÇÃO SOCIAL - SEMCOS</a:t>
            </a:r>
          </a:p>
        </p:txBody>
      </p:sp>
      <p:sp>
        <p:nvSpPr>
          <p:cNvPr id="171" name="Shape 171"/>
          <p:cNvSpPr/>
          <p:nvPr/>
        </p:nvSpPr>
        <p:spPr>
          <a:xfrm>
            <a:off x="7164287" y="3392837"/>
            <a:ext cx="2258700" cy="55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COORDENAÇÃO GERAL DE MÍDIAS DIGITAIS</a:t>
            </a:r>
          </a:p>
        </p:txBody>
      </p:sp>
      <p:sp>
        <p:nvSpPr>
          <p:cNvPr id="172" name="Shape 172"/>
          <p:cNvSpPr/>
          <p:nvPr/>
        </p:nvSpPr>
        <p:spPr>
          <a:xfrm>
            <a:off x="2360212" y="4477523"/>
            <a:ext cx="2258700" cy="792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GERÊNCIA DE PUBLICIDADE E PROPAGANDA</a:t>
            </a:r>
          </a:p>
        </p:txBody>
      </p:sp>
      <p:sp>
        <p:nvSpPr>
          <p:cNvPr id="173" name="Shape 173"/>
          <p:cNvSpPr/>
          <p:nvPr/>
        </p:nvSpPr>
        <p:spPr>
          <a:xfrm>
            <a:off x="5640602" y="4477523"/>
            <a:ext cx="2258700" cy="792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GERÊNCIA DE JORNALISMO E RELAÇÕES PÚBLICAS</a:t>
            </a:r>
          </a:p>
        </p:txBody>
      </p:sp>
      <p:cxnSp>
        <p:nvCxnSpPr>
          <p:cNvPr id="174" name="Shape 174"/>
          <p:cNvCxnSpPr>
            <a:stCxn id="171" idx="1"/>
          </p:cNvCxnSpPr>
          <p:nvPr/>
        </p:nvCxnSpPr>
        <p:spPr>
          <a:xfrm flipH="1">
            <a:off x="5116787" y="3671087"/>
            <a:ext cx="2047500" cy="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lg" len="lg"/>
            <a:tailEnd type="none" w="lg" len="lg"/>
          </a:ln>
        </p:spPr>
      </p:cxnSp>
      <p:cxnSp>
        <p:nvCxnSpPr>
          <p:cNvPr id="175" name="Shape 175"/>
          <p:cNvCxnSpPr/>
          <p:nvPr/>
        </p:nvCxnSpPr>
        <p:spPr>
          <a:xfrm>
            <a:off x="5130973" y="2942950"/>
            <a:ext cx="0" cy="103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6" name="Shape 176"/>
          <p:cNvCxnSpPr>
            <a:stCxn id="172" idx="0"/>
            <a:endCxn id="173" idx="0"/>
          </p:cNvCxnSpPr>
          <p:nvPr/>
        </p:nvCxnSpPr>
        <p:spPr>
          <a:xfrm rot="-5400000" flipH="1">
            <a:off x="5129512" y="2837573"/>
            <a:ext cx="600" cy="3280500"/>
          </a:xfrm>
          <a:prstGeom prst="bentConnector3">
            <a:avLst>
              <a:gd name="adj1" fmla="val -8649147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EBC84B82-3BB9-D19D-67D4-E114EF8366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  <p:sp>
        <p:nvSpPr>
          <p:cNvPr id="4" name="Shape 171">
            <a:extLst>
              <a:ext uri="{FF2B5EF4-FFF2-40B4-BE49-F238E27FC236}">
                <a16:creationId xmlns:a16="http://schemas.microsoft.com/office/drawing/2014/main" id="{0B7C02A0-C4DA-EF32-15A1-773DE0C6B1E2}"/>
              </a:ext>
            </a:extLst>
          </p:cNvPr>
          <p:cNvSpPr/>
          <p:nvPr/>
        </p:nvSpPr>
        <p:spPr>
          <a:xfrm>
            <a:off x="1468780" y="3082151"/>
            <a:ext cx="2258700" cy="55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ASSESSORIA DE SERVIÇOS DE CERIMONIA OFICIAL</a:t>
            </a:r>
          </a:p>
        </p:txBody>
      </p:sp>
      <p:cxnSp>
        <p:nvCxnSpPr>
          <p:cNvPr id="5" name="Shape 174">
            <a:extLst>
              <a:ext uri="{FF2B5EF4-FFF2-40B4-BE49-F238E27FC236}">
                <a16:creationId xmlns:a16="http://schemas.microsoft.com/office/drawing/2014/main" id="{71351F6A-159F-2F9F-0A5B-47A4F0A2530D}"/>
              </a:ext>
            </a:extLst>
          </p:cNvPr>
          <p:cNvCxnSpPr>
            <a:cxnSpLocks/>
          </p:cNvCxnSpPr>
          <p:nvPr/>
        </p:nvCxnSpPr>
        <p:spPr>
          <a:xfrm>
            <a:off x="3727480" y="3317367"/>
            <a:ext cx="1402332" cy="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stealth" w="lg" len="lg"/>
            <a:tailEnd type="none" w="lg" len="lg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/>
        </p:nvSpPr>
        <p:spPr>
          <a:xfrm>
            <a:off x="4125423" y="2017050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CONTROLADOR GERAL</a:t>
            </a:r>
          </a:p>
        </p:txBody>
      </p:sp>
      <p:sp>
        <p:nvSpPr>
          <p:cNvPr id="189" name="Shape 189"/>
          <p:cNvSpPr txBox="1"/>
          <p:nvPr/>
        </p:nvSpPr>
        <p:spPr>
          <a:xfrm>
            <a:off x="692304" y="1308812"/>
            <a:ext cx="9126300" cy="8585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CONTROLADORIA GERAL DO MUNICÍPIO - CGM</a:t>
            </a:r>
          </a:p>
        </p:txBody>
      </p:sp>
      <p:sp>
        <p:nvSpPr>
          <p:cNvPr id="191" name="Shape 191"/>
          <p:cNvSpPr/>
          <p:nvPr/>
        </p:nvSpPr>
        <p:spPr>
          <a:xfrm>
            <a:off x="845712" y="4070023"/>
            <a:ext cx="2258700" cy="792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COORDENAÇÃO DE AUDITORIA E GESTÃO</a:t>
            </a:r>
          </a:p>
        </p:txBody>
      </p:sp>
      <p:sp>
        <p:nvSpPr>
          <p:cNvPr id="192" name="Shape 192"/>
          <p:cNvSpPr/>
          <p:nvPr/>
        </p:nvSpPr>
        <p:spPr>
          <a:xfrm>
            <a:off x="4126102" y="4070023"/>
            <a:ext cx="2258700" cy="792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COORDENAÇÃO DE AUDITORIA ORÇAMENTÁRIA E FINANCEIRA</a:t>
            </a:r>
          </a:p>
        </p:txBody>
      </p:sp>
      <p:sp>
        <p:nvSpPr>
          <p:cNvPr id="193" name="Shape 193"/>
          <p:cNvSpPr/>
          <p:nvPr/>
        </p:nvSpPr>
        <p:spPr>
          <a:xfrm>
            <a:off x="7406463" y="4070023"/>
            <a:ext cx="2258700" cy="792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SUPERVISÃO DE GEO OBRAS</a:t>
            </a:r>
          </a:p>
        </p:txBody>
      </p:sp>
      <p:sp>
        <p:nvSpPr>
          <p:cNvPr id="194" name="Shape 194"/>
          <p:cNvSpPr/>
          <p:nvPr/>
        </p:nvSpPr>
        <p:spPr>
          <a:xfrm>
            <a:off x="845727" y="5978016"/>
            <a:ext cx="2258700" cy="7919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SUBGERÊNCIA DE ACOMPANHAMENTO DO E-SIC</a:t>
            </a:r>
          </a:p>
        </p:txBody>
      </p:sp>
      <p:sp>
        <p:nvSpPr>
          <p:cNvPr id="195" name="Shape 195"/>
          <p:cNvSpPr/>
          <p:nvPr/>
        </p:nvSpPr>
        <p:spPr>
          <a:xfrm>
            <a:off x="7406463" y="5253941"/>
            <a:ext cx="2258700" cy="792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GERÊNCIA DE PROCESSAMENTO NO SISTEMA GEO OBRAS</a:t>
            </a:r>
          </a:p>
        </p:txBody>
      </p:sp>
      <p:cxnSp>
        <p:nvCxnSpPr>
          <p:cNvPr id="196" name="Shape 196"/>
          <p:cNvCxnSpPr>
            <a:stCxn id="188" idx="2"/>
            <a:endCxn id="191" idx="0"/>
          </p:cNvCxnSpPr>
          <p:nvPr/>
        </p:nvCxnSpPr>
        <p:spPr>
          <a:xfrm rot="5400000">
            <a:off x="2866773" y="1681950"/>
            <a:ext cx="1496400" cy="32796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cxnSp>
        <p:nvCxnSpPr>
          <p:cNvPr id="197" name="Shape 197"/>
          <p:cNvCxnSpPr>
            <a:stCxn id="188" idx="2"/>
            <a:endCxn id="193" idx="0"/>
          </p:cNvCxnSpPr>
          <p:nvPr/>
        </p:nvCxnSpPr>
        <p:spPr>
          <a:xfrm rot="-5400000" flipH="1">
            <a:off x="6147123" y="1681200"/>
            <a:ext cx="1496400" cy="3281099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cxnSp>
        <p:nvCxnSpPr>
          <p:cNvPr id="198" name="Shape 198"/>
          <p:cNvCxnSpPr>
            <a:stCxn id="188" idx="2"/>
            <a:endCxn id="192" idx="0"/>
          </p:cNvCxnSpPr>
          <p:nvPr/>
        </p:nvCxnSpPr>
        <p:spPr>
          <a:xfrm>
            <a:off x="5254773" y="2573550"/>
            <a:ext cx="600" cy="1496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cxnSp>
        <p:nvCxnSpPr>
          <p:cNvPr id="199" name="Shape 199"/>
          <p:cNvCxnSpPr>
            <a:stCxn id="193" idx="2"/>
            <a:endCxn id="195" idx="0"/>
          </p:cNvCxnSpPr>
          <p:nvPr/>
        </p:nvCxnSpPr>
        <p:spPr>
          <a:xfrm>
            <a:off x="8535813" y="4862023"/>
            <a:ext cx="0" cy="391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stealth" w="lg" len="lg"/>
          </a:ln>
        </p:spPr>
      </p:cxnSp>
      <p:cxnSp>
        <p:nvCxnSpPr>
          <p:cNvPr id="200" name="Shape 200"/>
          <p:cNvCxnSpPr>
            <a:stCxn id="191" idx="2"/>
            <a:endCxn id="194" idx="0"/>
          </p:cNvCxnSpPr>
          <p:nvPr/>
        </p:nvCxnSpPr>
        <p:spPr>
          <a:xfrm>
            <a:off x="1975062" y="4862023"/>
            <a:ext cx="0" cy="111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stealth" w="lg" len="lg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32B71E11-0066-08A0-DBAF-B1AB2E027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/>
          <p:nvPr/>
        </p:nvSpPr>
        <p:spPr>
          <a:xfrm>
            <a:off x="4532380" y="1574379"/>
            <a:ext cx="2258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329200" y="939125"/>
            <a:ext cx="10277400" cy="446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DA FAZENDA - SEMFA</a:t>
            </a:r>
          </a:p>
        </p:txBody>
      </p:sp>
      <p:sp>
        <p:nvSpPr>
          <p:cNvPr id="215" name="Shape 215"/>
          <p:cNvSpPr/>
          <p:nvPr/>
        </p:nvSpPr>
        <p:spPr>
          <a:xfrm>
            <a:off x="524702" y="4024696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COORDENAÇÃO DO NÚCLEO DE ATENDIMENTO DO CONTRIBUINTE</a:t>
            </a:r>
          </a:p>
        </p:txBody>
      </p:sp>
      <p:cxnSp>
        <p:nvCxnSpPr>
          <p:cNvPr id="216" name="Shape 216"/>
          <p:cNvCxnSpPr/>
          <p:nvPr/>
        </p:nvCxnSpPr>
        <p:spPr>
          <a:xfrm flipH="1">
            <a:off x="5644630" y="1934629"/>
            <a:ext cx="17100" cy="1235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17" name="Shape 217"/>
          <p:cNvSpPr/>
          <p:nvPr/>
        </p:nvSpPr>
        <p:spPr>
          <a:xfrm>
            <a:off x="4532380" y="2110626"/>
            <a:ext cx="22587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</p:txBody>
      </p:sp>
      <p:cxnSp>
        <p:nvCxnSpPr>
          <p:cNvPr id="218" name="Shape 218"/>
          <p:cNvCxnSpPr/>
          <p:nvPr/>
        </p:nvCxnSpPr>
        <p:spPr>
          <a:xfrm flipH="1">
            <a:off x="5660880" y="2040566"/>
            <a:ext cx="2756100" cy="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219" name="Shape 219"/>
          <p:cNvSpPr/>
          <p:nvPr/>
        </p:nvSpPr>
        <p:spPr>
          <a:xfrm>
            <a:off x="2477230" y="2698750"/>
            <a:ext cx="1814399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CHEFE DE EXPEDIENTE</a:t>
            </a:r>
          </a:p>
        </p:txBody>
      </p:sp>
      <p:cxnSp>
        <p:nvCxnSpPr>
          <p:cNvPr id="220" name="Shape 220"/>
          <p:cNvCxnSpPr/>
          <p:nvPr/>
        </p:nvCxnSpPr>
        <p:spPr>
          <a:xfrm rot="10800000">
            <a:off x="4306180" y="2889681"/>
            <a:ext cx="13476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21" name="Shape 221"/>
          <p:cNvSpPr/>
          <p:nvPr/>
        </p:nvSpPr>
        <p:spPr>
          <a:xfrm>
            <a:off x="3856615" y="3295431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DE CADASTRO TÉCNICO MUNICIPAL</a:t>
            </a:r>
          </a:p>
        </p:txBody>
      </p:sp>
      <p:sp>
        <p:nvSpPr>
          <p:cNvPr id="222" name="Shape 222"/>
          <p:cNvSpPr/>
          <p:nvPr/>
        </p:nvSpPr>
        <p:spPr>
          <a:xfrm>
            <a:off x="8417055" y="1847668"/>
            <a:ext cx="1814400" cy="507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CONSELHO MUNICIPAL DE RECURSOS FISCAIS</a:t>
            </a:r>
          </a:p>
        </p:txBody>
      </p:sp>
      <p:sp>
        <p:nvSpPr>
          <p:cNvPr id="223" name="Shape 223"/>
          <p:cNvSpPr/>
          <p:nvPr/>
        </p:nvSpPr>
        <p:spPr>
          <a:xfrm>
            <a:off x="1132080" y="1808306"/>
            <a:ext cx="1814400" cy="507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COMISSÃO DE GESTÃO FINANCEIRA E ORÇAMENTÁRIA</a:t>
            </a:r>
          </a:p>
        </p:txBody>
      </p:sp>
      <p:cxnSp>
        <p:nvCxnSpPr>
          <p:cNvPr id="224" name="Shape 224"/>
          <p:cNvCxnSpPr>
            <a:stCxn id="215" idx="0"/>
          </p:cNvCxnSpPr>
          <p:nvPr/>
        </p:nvCxnSpPr>
        <p:spPr>
          <a:xfrm rot="-5400000">
            <a:off x="4562402" y="-235003"/>
            <a:ext cx="858900" cy="7660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25" name="Shape 225"/>
          <p:cNvCxnSpPr>
            <a:endCxn id="223" idx="3"/>
          </p:cNvCxnSpPr>
          <p:nvPr/>
        </p:nvCxnSpPr>
        <p:spPr>
          <a:xfrm flipH="1">
            <a:off x="2946480" y="2040356"/>
            <a:ext cx="2725500" cy="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226" name="Shape 226"/>
          <p:cNvSpPr/>
          <p:nvPr/>
        </p:nvSpPr>
        <p:spPr>
          <a:xfrm>
            <a:off x="6866680" y="2522389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ANALISTA CONTÁBIL</a:t>
            </a:r>
          </a:p>
        </p:txBody>
      </p:sp>
      <p:cxnSp>
        <p:nvCxnSpPr>
          <p:cNvPr id="227" name="Shape 227"/>
          <p:cNvCxnSpPr>
            <a:stCxn id="226" idx="1"/>
          </p:cNvCxnSpPr>
          <p:nvPr/>
        </p:nvCxnSpPr>
        <p:spPr>
          <a:xfrm rot="10800000">
            <a:off x="5654680" y="2691139"/>
            <a:ext cx="1212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28" name="Shape 228"/>
          <p:cNvSpPr/>
          <p:nvPr/>
        </p:nvSpPr>
        <p:spPr>
          <a:xfrm>
            <a:off x="1402383" y="3302781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DE TRIBUTOS E ARRECADAÇÃO</a:t>
            </a:r>
          </a:p>
        </p:txBody>
      </p:sp>
      <p:sp>
        <p:nvSpPr>
          <p:cNvPr id="229" name="Shape 229"/>
          <p:cNvSpPr/>
          <p:nvPr/>
        </p:nvSpPr>
        <p:spPr>
          <a:xfrm rot="-5400000">
            <a:off x="1353178" y="6265430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TRIBUTOS IMOBILIÁRIOS E DIVERSOS</a:t>
            </a:r>
          </a:p>
        </p:txBody>
      </p:sp>
      <p:cxnSp>
        <p:nvCxnSpPr>
          <p:cNvPr id="230" name="Shape 230"/>
          <p:cNvCxnSpPr>
            <a:stCxn id="228" idx="2"/>
            <a:endCxn id="229" idx="3"/>
          </p:cNvCxnSpPr>
          <p:nvPr/>
        </p:nvCxnSpPr>
        <p:spPr>
          <a:xfrm>
            <a:off x="2039283" y="3920781"/>
            <a:ext cx="0" cy="182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31" name="Shape 231"/>
          <p:cNvSpPr/>
          <p:nvPr/>
        </p:nvSpPr>
        <p:spPr>
          <a:xfrm>
            <a:off x="2624333" y="4018356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COORDENAÇÃO DE CONTROLE DE OPERAÇÕES FINANCEIRAS</a:t>
            </a:r>
          </a:p>
        </p:txBody>
      </p:sp>
      <p:sp>
        <p:nvSpPr>
          <p:cNvPr id="232" name="Shape 232"/>
          <p:cNvSpPr/>
          <p:nvPr/>
        </p:nvSpPr>
        <p:spPr>
          <a:xfrm rot="-5400000">
            <a:off x="2575128" y="6265430"/>
            <a:ext cx="1372200" cy="3374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CONTROLE FINANCEIRO</a:t>
            </a:r>
          </a:p>
        </p:txBody>
      </p:sp>
      <p:sp>
        <p:nvSpPr>
          <p:cNvPr id="233" name="Shape 233"/>
          <p:cNvSpPr/>
          <p:nvPr/>
        </p:nvSpPr>
        <p:spPr>
          <a:xfrm rot="-5400000">
            <a:off x="3537182" y="6193831"/>
            <a:ext cx="1372200" cy="472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DIVISÃO FISCAL E MANUTENÇÃO DE CADASTRAMENTO IMOBILIÁRIO</a:t>
            </a:r>
          </a:p>
        </p:txBody>
      </p:sp>
      <p:sp>
        <p:nvSpPr>
          <p:cNvPr id="234" name="Shape 234"/>
          <p:cNvSpPr/>
          <p:nvPr/>
        </p:nvSpPr>
        <p:spPr>
          <a:xfrm rot="-5400000">
            <a:off x="4038451" y="6261330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CADASTRO TÉCNICO</a:t>
            </a:r>
          </a:p>
        </p:txBody>
      </p:sp>
      <p:cxnSp>
        <p:nvCxnSpPr>
          <p:cNvPr id="235" name="Shape 235"/>
          <p:cNvCxnSpPr>
            <a:stCxn id="233" idx="3"/>
            <a:endCxn id="234" idx="3"/>
          </p:cNvCxnSpPr>
          <p:nvPr/>
        </p:nvCxnSpPr>
        <p:spPr>
          <a:xfrm rot="-5400000" flipH="1">
            <a:off x="4473632" y="5493631"/>
            <a:ext cx="600" cy="501300"/>
          </a:xfrm>
          <a:prstGeom prst="bentConnector3">
            <a:avLst>
              <a:gd name="adj1" fmla="val -1341083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36" name="Shape 236"/>
          <p:cNvCxnSpPr>
            <a:stCxn id="221" idx="2"/>
          </p:cNvCxnSpPr>
          <p:nvPr/>
        </p:nvCxnSpPr>
        <p:spPr>
          <a:xfrm>
            <a:off x="4493515" y="3913431"/>
            <a:ext cx="0" cy="103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37" name="Shape 237"/>
          <p:cNvCxnSpPr>
            <a:stCxn id="232" idx="3"/>
            <a:endCxn id="231" idx="2"/>
          </p:cNvCxnSpPr>
          <p:nvPr/>
        </p:nvCxnSpPr>
        <p:spPr>
          <a:xfrm rot="10800000">
            <a:off x="3261228" y="4636280"/>
            <a:ext cx="0" cy="111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38" name="Shape 238"/>
          <p:cNvCxnSpPr/>
          <p:nvPr/>
        </p:nvCxnSpPr>
        <p:spPr>
          <a:xfrm rot="10800000" flipH="1">
            <a:off x="3261233" y="3166006"/>
            <a:ext cx="6600" cy="82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39" name="Shape 239"/>
          <p:cNvSpPr/>
          <p:nvPr/>
        </p:nvSpPr>
        <p:spPr>
          <a:xfrm>
            <a:off x="5344247" y="4976381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GERÊNCIA DE PLANEJAMENTO ORÇAMENTÁRIO</a:t>
            </a:r>
          </a:p>
        </p:txBody>
      </p:sp>
      <p:cxnSp>
        <p:nvCxnSpPr>
          <p:cNvPr id="240" name="Shape 240"/>
          <p:cNvCxnSpPr/>
          <p:nvPr/>
        </p:nvCxnSpPr>
        <p:spPr>
          <a:xfrm>
            <a:off x="5981147" y="3175401"/>
            <a:ext cx="0" cy="175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1" name="Shape 241"/>
          <p:cNvSpPr/>
          <p:nvPr/>
        </p:nvSpPr>
        <p:spPr>
          <a:xfrm>
            <a:off x="6802160" y="4976381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Clr>
                <a:schemeClr val="dk1"/>
              </a:buClr>
              <a:buSzPct val="122222"/>
              <a:buFont typeface="Arial"/>
              <a:buNone/>
            </a:pPr>
            <a:r>
              <a:rPr lang="pt-BR" sz="900">
                <a:solidFill>
                  <a:schemeClr val="dk1"/>
                </a:solidFill>
              </a:rPr>
              <a:t>GERÊNCIA DE INFORMAÇÃO DE EXECUÇÃO ORÇAMENTÁRIA</a:t>
            </a:r>
          </a:p>
        </p:txBody>
      </p:sp>
      <p:sp>
        <p:nvSpPr>
          <p:cNvPr id="242" name="Shape 242"/>
          <p:cNvSpPr/>
          <p:nvPr/>
        </p:nvSpPr>
        <p:spPr>
          <a:xfrm>
            <a:off x="8211149" y="4976381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RECEITAS E CONCILIAÇÃO BANCÁRIAS</a:t>
            </a:r>
          </a:p>
        </p:txBody>
      </p:sp>
      <p:cxnSp>
        <p:nvCxnSpPr>
          <p:cNvPr id="243" name="Shape 243"/>
          <p:cNvCxnSpPr/>
          <p:nvPr/>
        </p:nvCxnSpPr>
        <p:spPr>
          <a:xfrm rot="10800000">
            <a:off x="2039283" y="3167741"/>
            <a:ext cx="0" cy="11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44" name="Shape 244"/>
          <p:cNvCxnSpPr>
            <a:stCxn id="221" idx="0"/>
          </p:cNvCxnSpPr>
          <p:nvPr/>
        </p:nvCxnSpPr>
        <p:spPr>
          <a:xfrm rot="10800000">
            <a:off x="4493515" y="3165831"/>
            <a:ext cx="0" cy="12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5" name="Shape 245"/>
          <p:cNvSpPr/>
          <p:nvPr/>
        </p:nvSpPr>
        <p:spPr>
          <a:xfrm rot="-5400000">
            <a:off x="6477533" y="6278506"/>
            <a:ext cx="1372200" cy="369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EMPENHO</a:t>
            </a:r>
          </a:p>
        </p:txBody>
      </p:sp>
      <p:sp>
        <p:nvSpPr>
          <p:cNvPr id="246" name="Shape 246"/>
          <p:cNvSpPr/>
          <p:nvPr/>
        </p:nvSpPr>
        <p:spPr>
          <a:xfrm rot="-5400000">
            <a:off x="7030559" y="6294258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LIQUIDAÇÃO E BAIXA</a:t>
            </a:r>
          </a:p>
        </p:txBody>
      </p:sp>
      <p:cxnSp>
        <p:nvCxnSpPr>
          <p:cNvPr id="247" name="Shape 247"/>
          <p:cNvCxnSpPr>
            <a:stCxn id="245" idx="3"/>
            <a:endCxn id="246" idx="3"/>
          </p:cNvCxnSpPr>
          <p:nvPr/>
        </p:nvCxnSpPr>
        <p:spPr>
          <a:xfrm rot="-5400000" flipH="1">
            <a:off x="7439783" y="5500756"/>
            <a:ext cx="600" cy="552900"/>
          </a:xfrm>
          <a:prstGeom prst="bentConnector3">
            <a:avLst>
              <a:gd name="adj1" fmla="val -17045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8" name="Shape 248"/>
          <p:cNvSpPr/>
          <p:nvPr/>
        </p:nvSpPr>
        <p:spPr>
          <a:xfrm rot="-5400000">
            <a:off x="9055397" y="6281381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CONTROLE DE PROCESSOS</a:t>
            </a:r>
          </a:p>
        </p:txBody>
      </p:sp>
      <p:cxnSp>
        <p:nvCxnSpPr>
          <p:cNvPr id="249" name="Shape 249"/>
          <p:cNvCxnSpPr>
            <a:endCxn id="241" idx="2"/>
          </p:cNvCxnSpPr>
          <p:nvPr/>
        </p:nvCxnSpPr>
        <p:spPr>
          <a:xfrm rot="10800000">
            <a:off x="7439060" y="5594381"/>
            <a:ext cx="3000" cy="8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50" name="Shape 250"/>
          <p:cNvSpPr/>
          <p:nvPr/>
        </p:nvSpPr>
        <p:spPr>
          <a:xfrm>
            <a:off x="555608" y="4976381"/>
            <a:ext cx="12120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ATENDIMENTO AO MICROEMPREEN-DEDOR</a:t>
            </a:r>
          </a:p>
        </p:txBody>
      </p:sp>
      <p:cxnSp>
        <p:nvCxnSpPr>
          <p:cNvPr id="251" name="Shape 251"/>
          <p:cNvCxnSpPr>
            <a:stCxn id="215" idx="2"/>
            <a:endCxn id="250" idx="0"/>
          </p:cNvCxnSpPr>
          <p:nvPr/>
        </p:nvCxnSpPr>
        <p:spPr>
          <a:xfrm>
            <a:off x="1161602" y="4642696"/>
            <a:ext cx="0" cy="33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2" name="Shape 252"/>
          <p:cNvCxnSpPr>
            <a:stCxn id="241" idx="0"/>
          </p:cNvCxnSpPr>
          <p:nvPr/>
        </p:nvCxnSpPr>
        <p:spPr>
          <a:xfrm rot="-5400000">
            <a:off x="7881860" y="4007081"/>
            <a:ext cx="526500" cy="14121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3" name="Shape 253"/>
          <p:cNvCxnSpPr>
            <a:endCxn id="248" idx="3"/>
          </p:cNvCxnSpPr>
          <p:nvPr/>
        </p:nvCxnSpPr>
        <p:spPr>
          <a:xfrm rot="-5400000" flipH="1">
            <a:off x="8641847" y="4664381"/>
            <a:ext cx="1308900" cy="890400"/>
          </a:xfrm>
          <a:prstGeom prst="bentConnector3">
            <a:avLst>
              <a:gd name="adj1" fmla="val 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4" name="Shape 254"/>
          <p:cNvCxnSpPr/>
          <p:nvPr/>
        </p:nvCxnSpPr>
        <p:spPr>
          <a:xfrm>
            <a:off x="8825631" y="3169475"/>
            <a:ext cx="2700" cy="180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9A3D38AA-DCAA-AFC9-61FC-82FC25E886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/>
          <p:nvPr/>
        </p:nvSpPr>
        <p:spPr>
          <a:xfrm>
            <a:off x="4207750" y="1647518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309750" y="1112775"/>
            <a:ext cx="10336200" cy="446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DE ADM. E GESTÃO DE RECURSOS HUMANOS - SEMAD</a:t>
            </a:r>
          </a:p>
        </p:txBody>
      </p:sp>
      <p:cxnSp>
        <p:nvCxnSpPr>
          <p:cNvPr id="269" name="Shape 269"/>
          <p:cNvCxnSpPr>
            <a:stCxn id="266" idx="2"/>
          </p:cNvCxnSpPr>
          <p:nvPr/>
        </p:nvCxnSpPr>
        <p:spPr>
          <a:xfrm>
            <a:off x="5337100" y="2204018"/>
            <a:ext cx="15900" cy="1295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70" name="Shape 270"/>
          <p:cNvSpPr/>
          <p:nvPr/>
        </p:nvSpPr>
        <p:spPr>
          <a:xfrm>
            <a:off x="6700900" y="2065456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COMISSÃO PERMANENTE DE CONTRATAÇÃO</a:t>
            </a:r>
          </a:p>
        </p:txBody>
      </p:sp>
      <p:sp>
        <p:nvSpPr>
          <p:cNvPr id="271" name="Shape 271"/>
          <p:cNvSpPr/>
          <p:nvPr/>
        </p:nvSpPr>
        <p:spPr>
          <a:xfrm>
            <a:off x="4207737" y="2405423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</p:txBody>
      </p:sp>
      <p:cxnSp>
        <p:nvCxnSpPr>
          <p:cNvPr id="272" name="Shape 272"/>
          <p:cNvCxnSpPr/>
          <p:nvPr/>
        </p:nvCxnSpPr>
        <p:spPr>
          <a:xfrm>
            <a:off x="5384541" y="455909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73" name="Shape 273"/>
          <p:cNvSpPr/>
          <p:nvPr/>
        </p:nvSpPr>
        <p:spPr>
          <a:xfrm>
            <a:off x="6700900" y="2973886"/>
            <a:ext cx="2258700" cy="3374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CHEFE DE EXPEDIENTE</a:t>
            </a:r>
          </a:p>
        </p:txBody>
      </p:sp>
      <p:cxnSp>
        <p:nvCxnSpPr>
          <p:cNvPr id="274" name="Shape 274"/>
          <p:cNvCxnSpPr>
            <a:stCxn id="273" idx="1"/>
          </p:cNvCxnSpPr>
          <p:nvPr/>
        </p:nvCxnSpPr>
        <p:spPr>
          <a:xfrm rot="10800000">
            <a:off x="5337100" y="3138736"/>
            <a:ext cx="1363800" cy="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5" name="Shape 275"/>
          <p:cNvCxnSpPr>
            <a:stCxn id="270" idx="1"/>
          </p:cNvCxnSpPr>
          <p:nvPr/>
        </p:nvCxnSpPr>
        <p:spPr>
          <a:xfrm rot="10800000">
            <a:off x="5322100" y="2316406"/>
            <a:ext cx="1378800" cy="2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276" name="Shape 276"/>
          <p:cNvSpPr/>
          <p:nvPr/>
        </p:nvSpPr>
        <p:spPr>
          <a:xfrm>
            <a:off x="246504" y="5359100"/>
            <a:ext cx="1015200" cy="663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ACOMPANHAMENTO DE CONVÊNIOS</a:t>
            </a:r>
          </a:p>
        </p:txBody>
      </p:sp>
      <p:sp>
        <p:nvSpPr>
          <p:cNvPr id="277" name="Shape 277"/>
          <p:cNvSpPr/>
          <p:nvPr/>
        </p:nvSpPr>
        <p:spPr>
          <a:xfrm>
            <a:off x="2026274" y="3663300"/>
            <a:ext cx="1512299" cy="660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ANALISTA DE RECURSOS HUMANOS (2)</a:t>
            </a:r>
          </a:p>
        </p:txBody>
      </p:sp>
      <p:sp>
        <p:nvSpPr>
          <p:cNvPr id="278" name="Shape 278"/>
          <p:cNvSpPr/>
          <p:nvPr/>
        </p:nvSpPr>
        <p:spPr>
          <a:xfrm>
            <a:off x="3718894" y="3663300"/>
            <a:ext cx="1512300" cy="660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ANALISTA DE PROCEDIMENTO LICITATÓRIO</a:t>
            </a:r>
          </a:p>
        </p:txBody>
      </p:sp>
      <p:sp>
        <p:nvSpPr>
          <p:cNvPr id="279" name="Shape 279"/>
          <p:cNvSpPr/>
          <p:nvPr/>
        </p:nvSpPr>
        <p:spPr>
          <a:xfrm>
            <a:off x="5384540" y="3663300"/>
            <a:ext cx="1512300" cy="660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ANALISTA DE TECNOLOGIA DA INFORMAÇÃO</a:t>
            </a:r>
          </a:p>
        </p:txBody>
      </p:sp>
      <p:sp>
        <p:nvSpPr>
          <p:cNvPr id="280" name="Shape 280"/>
          <p:cNvSpPr/>
          <p:nvPr/>
        </p:nvSpPr>
        <p:spPr>
          <a:xfrm>
            <a:off x="6024195" y="4700200"/>
            <a:ext cx="2523299" cy="426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 dirty="0"/>
              <a:t>COORDENAÇÃO DE PATRIMÔNIO E ALMOXARIFADO</a:t>
            </a:r>
          </a:p>
        </p:txBody>
      </p:sp>
      <p:sp>
        <p:nvSpPr>
          <p:cNvPr id="281" name="Shape 281"/>
          <p:cNvSpPr/>
          <p:nvPr/>
        </p:nvSpPr>
        <p:spPr>
          <a:xfrm>
            <a:off x="7974077" y="5302105"/>
            <a:ext cx="12702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 dirty="0"/>
              <a:t>GERÊNCIA ADMINISTRATIVA</a:t>
            </a:r>
          </a:p>
        </p:txBody>
      </p:sp>
      <p:cxnSp>
        <p:nvCxnSpPr>
          <p:cNvPr id="282" name="Shape 282"/>
          <p:cNvCxnSpPr/>
          <p:nvPr/>
        </p:nvCxnSpPr>
        <p:spPr>
          <a:xfrm flipH="1">
            <a:off x="8809194" y="3473817"/>
            <a:ext cx="5406" cy="1806084"/>
          </a:xfrm>
          <a:prstGeom prst="straightConnector1">
            <a:avLst/>
          </a:prstGeom>
          <a:ln>
            <a:headEnd type="none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4" name="Shape 284"/>
          <p:cNvSpPr/>
          <p:nvPr/>
        </p:nvSpPr>
        <p:spPr>
          <a:xfrm rot="-5400000">
            <a:off x="6103186" y="6457475"/>
            <a:ext cx="12702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SUBGERÊNCIA DE COMBUSTÍVEL</a:t>
            </a:r>
          </a:p>
        </p:txBody>
      </p:sp>
      <p:sp>
        <p:nvSpPr>
          <p:cNvPr id="285" name="Shape 285"/>
          <p:cNvSpPr/>
          <p:nvPr/>
        </p:nvSpPr>
        <p:spPr>
          <a:xfrm rot="-5400000">
            <a:off x="6907520" y="6337950"/>
            <a:ext cx="1307400" cy="749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SUBGERÊNCIA DE CONTROLE DE MATERIAIS E ALMOXARIFADO CENTRAL</a:t>
            </a:r>
          </a:p>
        </p:txBody>
      </p:sp>
      <p:cxnSp>
        <p:nvCxnSpPr>
          <p:cNvPr id="287" name="Shape 287"/>
          <p:cNvCxnSpPr>
            <a:stCxn id="280" idx="0"/>
          </p:cNvCxnSpPr>
          <p:nvPr/>
        </p:nvCxnSpPr>
        <p:spPr>
          <a:xfrm rot="10800000" flipH="1">
            <a:off x="7285845" y="3537400"/>
            <a:ext cx="4500" cy="116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88" name="Shape 288"/>
          <p:cNvCxnSpPr>
            <a:stCxn id="277" idx="0"/>
          </p:cNvCxnSpPr>
          <p:nvPr/>
        </p:nvCxnSpPr>
        <p:spPr>
          <a:xfrm rot="10800000">
            <a:off x="2782424" y="3514800"/>
            <a:ext cx="0" cy="14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89" name="Shape 289"/>
          <p:cNvCxnSpPr>
            <a:stCxn id="278" idx="0"/>
          </p:cNvCxnSpPr>
          <p:nvPr/>
        </p:nvCxnSpPr>
        <p:spPr>
          <a:xfrm rot="10800000">
            <a:off x="4475044" y="3514800"/>
            <a:ext cx="0" cy="14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90" name="Shape 290"/>
          <p:cNvCxnSpPr>
            <a:stCxn id="279" idx="0"/>
          </p:cNvCxnSpPr>
          <p:nvPr/>
        </p:nvCxnSpPr>
        <p:spPr>
          <a:xfrm rot="10800000">
            <a:off x="6140690" y="3524400"/>
            <a:ext cx="0" cy="13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91" name="Shape 291"/>
          <p:cNvSpPr/>
          <p:nvPr/>
        </p:nvSpPr>
        <p:spPr>
          <a:xfrm>
            <a:off x="2338313" y="5355650"/>
            <a:ext cx="1223100" cy="660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ANÁLISE, PAGAMENTO E GESTÃO DE RH</a:t>
            </a:r>
          </a:p>
        </p:txBody>
      </p:sp>
      <p:sp>
        <p:nvSpPr>
          <p:cNvPr id="292" name="Shape 292"/>
          <p:cNvSpPr/>
          <p:nvPr/>
        </p:nvSpPr>
        <p:spPr>
          <a:xfrm>
            <a:off x="3681344" y="5354900"/>
            <a:ext cx="1152300" cy="660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MEDICINA E SEGURANÇA DO TRABALHO</a:t>
            </a:r>
          </a:p>
        </p:txBody>
      </p:sp>
      <p:cxnSp>
        <p:nvCxnSpPr>
          <p:cNvPr id="293" name="Shape 293"/>
          <p:cNvCxnSpPr>
            <a:stCxn id="277" idx="2"/>
            <a:endCxn id="292" idx="0"/>
          </p:cNvCxnSpPr>
          <p:nvPr/>
        </p:nvCxnSpPr>
        <p:spPr>
          <a:xfrm rot="-5400000" flipH="1">
            <a:off x="3004274" y="4101750"/>
            <a:ext cx="1031400" cy="1475099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94" name="Shape 294"/>
          <p:cNvCxnSpPr>
            <a:stCxn id="277" idx="2"/>
            <a:endCxn id="291" idx="0"/>
          </p:cNvCxnSpPr>
          <p:nvPr/>
        </p:nvCxnSpPr>
        <p:spPr>
          <a:xfrm rot="-5400000" flipH="1">
            <a:off x="2350124" y="4755900"/>
            <a:ext cx="1032000" cy="1674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95" name="Shape 295"/>
          <p:cNvSpPr/>
          <p:nvPr/>
        </p:nvSpPr>
        <p:spPr>
          <a:xfrm rot="-5400000">
            <a:off x="7618950" y="6488577"/>
            <a:ext cx="13467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SUBGERÊNCIA DE COMPRA E CADASTRO DE FORNECEDORES</a:t>
            </a:r>
          </a:p>
        </p:txBody>
      </p:sp>
      <p:sp>
        <p:nvSpPr>
          <p:cNvPr id="297" name="Shape 297"/>
          <p:cNvSpPr/>
          <p:nvPr/>
        </p:nvSpPr>
        <p:spPr>
          <a:xfrm rot="-5400000">
            <a:off x="8665125" y="6498675"/>
            <a:ext cx="13467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 dirty="0"/>
              <a:t>SUBGERÊNCIA DE ADM. DE CONTRATOS</a:t>
            </a:r>
          </a:p>
        </p:txBody>
      </p:sp>
      <p:sp>
        <p:nvSpPr>
          <p:cNvPr id="298" name="Shape 298"/>
          <p:cNvSpPr/>
          <p:nvPr/>
        </p:nvSpPr>
        <p:spPr>
          <a:xfrm rot="-5400000">
            <a:off x="9179475" y="6498675"/>
            <a:ext cx="13467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r>
              <a:rPr lang="pt-BR" sz="800" dirty="0"/>
              <a:t>SUBGERÊNCIA DE ARQUIVO GERAL</a:t>
            </a:r>
          </a:p>
          <a:p>
            <a:pPr lvl="0" algn="ctr" rtl="0">
              <a:spcBef>
                <a:spcPts val="0"/>
              </a:spcBef>
              <a:buNone/>
            </a:pPr>
            <a:endParaRPr lang="pt-BR" sz="800" dirty="0"/>
          </a:p>
        </p:txBody>
      </p:sp>
      <p:cxnSp>
        <p:nvCxnSpPr>
          <p:cNvPr id="299" name="Shape 299"/>
          <p:cNvCxnSpPr>
            <a:cxnSpLocks/>
            <a:endCxn id="284" idx="3"/>
          </p:cNvCxnSpPr>
          <p:nvPr/>
        </p:nvCxnSpPr>
        <p:spPr>
          <a:xfrm>
            <a:off x="6700900" y="5127100"/>
            <a:ext cx="37386" cy="918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00" name="Shape 300"/>
          <p:cNvCxnSpPr>
            <a:endCxn id="285" idx="3"/>
          </p:cNvCxnSpPr>
          <p:nvPr/>
        </p:nvCxnSpPr>
        <p:spPr>
          <a:xfrm>
            <a:off x="7557020" y="5128200"/>
            <a:ext cx="4200" cy="93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03" name="Shape 303"/>
          <p:cNvCxnSpPr>
            <a:cxnSpLocks/>
          </p:cNvCxnSpPr>
          <p:nvPr/>
        </p:nvCxnSpPr>
        <p:spPr>
          <a:xfrm>
            <a:off x="8814600" y="6038277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05" name="Shape 305"/>
          <p:cNvCxnSpPr/>
          <p:nvPr/>
        </p:nvCxnSpPr>
        <p:spPr>
          <a:xfrm flipV="1">
            <a:off x="9321900" y="5905500"/>
            <a:ext cx="4133" cy="1410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08" name="Shape 308"/>
          <p:cNvSpPr/>
          <p:nvPr/>
        </p:nvSpPr>
        <p:spPr>
          <a:xfrm rot="-5400000">
            <a:off x="2316209" y="6524150"/>
            <a:ext cx="12702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SUBGERÊNCIA DE PAGAMENTO</a:t>
            </a:r>
          </a:p>
        </p:txBody>
      </p:sp>
      <p:cxnSp>
        <p:nvCxnSpPr>
          <p:cNvPr id="309" name="Shape 309"/>
          <p:cNvCxnSpPr>
            <a:stCxn id="291" idx="2"/>
            <a:endCxn id="308" idx="3"/>
          </p:cNvCxnSpPr>
          <p:nvPr/>
        </p:nvCxnSpPr>
        <p:spPr>
          <a:xfrm>
            <a:off x="2949863" y="6015950"/>
            <a:ext cx="1500" cy="9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10" name="Shape 310"/>
          <p:cNvCxnSpPr>
            <a:stCxn id="276" idx="0"/>
          </p:cNvCxnSpPr>
          <p:nvPr/>
        </p:nvCxnSpPr>
        <p:spPr>
          <a:xfrm rot="5400000" flipH="1" flipV="1">
            <a:off x="3845294" y="395198"/>
            <a:ext cx="1872712" cy="8055092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11" name="Shape 311"/>
          <p:cNvSpPr/>
          <p:nvPr/>
        </p:nvSpPr>
        <p:spPr>
          <a:xfrm>
            <a:off x="1346349" y="5354900"/>
            <a:ext cx="917700" cy="660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ANÁLISE DE VANTAGENS</a:t>
            </a:r>
          </a:p>
        </p:txBody>
      </p:sp>
      <p:cxnSp>
        <p:nvCxnSpPr>
          <p:cNvPr id="312" name="Shape 312"/>
          <p:cNvCxnSpPr>
            <a:stCxn id="311" idx="0"/>
          </p:cNvCxnSpPr>
          <p:nvPr/>
        </p:nvCxnSpPr>
        <p:spPr>
          <a:xfrm rot="-5400000">
            <a:off x="2054499" y="4596500"/>
            <a:ext cx="509100" cy="10077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13" name="Shape 313"/>
          <p:cNvSpPr/>
          <p:nvPr/>
        </p:nvSpPr>
        <p:spPr>
          <a:xfrm>
            <a:off x="4904032" y="5354900"/>
            <a:ext cx="1152300" cy="660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INFORMÁTICA</a:t>
            </a:r>
          </a:p>
        </p:txBody>
      </p:sp>
      <p:cxnSp>
        <p:nvCxnSpPr>
          <p:cNvPr id="314" name="Shape 314"/>
          <p:cNvCxnSpPr>
            <a:stCxn id="279" idx="2"/>
            <a:endCxn id="313" idx="0"/>
          </p:cNvCxnSpPr>
          <p:nvPr/>
        </p:nvCxnSpPr>
        <p:spPr>
          <a:xfrm rot="5400000">
            <a:off x="5294690" y="4509000"/>
            <a:ext cx="1031400" cy="660600"/>
          </a:xfrm>
          <a:prstGeom prst="bentConnector3">
            <a:avLst>
              <a:gd name="adj1" fmla="val 1649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" name="Conector reto 7"/>
          <p:cNvCxnSpPr/>
          <p:nvPr/>
        </p:nvCxnSpPr>
        <p:spPr>
          <a:xfrm>
            <a:off x="8837069" y="4400762"/>
            <a:ext cx="12346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cxnSpLocks/>
          </p:cNvCxnSpPr>
          <p:nvPr/>
        </p:nvCxnSpPr>
        <p:spPr>
          <a:xfrm flipH="1">
            <a:off x="10060311" y="4400762"/>
            <a:ext cx="11438" cy="8995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298" idx="3"/>
            <a:endCxn id="298" idx="3"/>
          </p:cNvCxnSpPr>
          <p:nvPr/>
        </p:nvCxnSpPr>
        <p:spPr>
          <a:xfrm>
            <a:off x="9852825" y="604837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hape 305"/>
          <p:cNvCxnSpPr/>
          <p:nvPr/>
        </p:nvCxnSpPr>
        <p:spPr>
          <a:xfrm rot="10800000">
            <a:off x="9561525" y="6059100"/>
            <a:ext cx="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0" name="Conector reto 259"/>
          <p:cNvCxnSpPr>
            <a:endCxn id="295" idx="3"/>
          </p:cNvCxnSpPr>
          <p:nvPr/>
        </p:nvCxnSpPr>
        <p:spPr>
          <a:xfrm>
            <a:off x="8292300" y="5895046"/>
            <a:ext cx="0" cy="1432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reto 42"/>
          <p:cNvCxnSpPr/>
          <p:nvPr/>
        </p:nvCxnSpPr>
        <p:spPr>
          <a:xfrm>
            <a:off x="8292300" y="5895046"/>
            <a:ext cx="1552052" cy="33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Conector reto 45"/>
          <p:cNvCxnSpPr/>
          <p:nvPr/>
        </p:nvCxnSpPr>
        <p:spPr>
          <a:xfrm>
            <a:off x="8809194" y="5748205"/>
            <a:ext cx="0" cy="1694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Conector reto 66"/>
          <p:cNvCxnSpPr/>
          <p:nvPr/>
        </p:nvCxnSpPr>
        <p:spPr>
          <a:xfrm>
            <a:off x="9852825" y="5895046"/>
            <a:ext cx="0" cy="1533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C19717D5-E9A8-59E1-611B-5E83B149D1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  <p:sp>
        <p:nvSpPr>
          <p:cNvPr id="3" name="Shape 281">
            <a:extLst>
              <a:ext uri="{FF2B5EF4-FFF2-40B4-BE49-F238E27FC236}">
                <a16:creationId xmlns:a16="http://schemas.microsoft.com/office/drawing/2014/main" id="{6E5E861A-14A7-D2BC-34E8-514AD98E7283}"/>
              </a:ext>
            </a:extLst>
          </p:cNvPr>
          <p:cNvSpPr/>
          <p:nvPr/>
        </p:nvSpPr>
        <p:spPr>
          <a:xfrm>
            <a:off x="9375750" y="5297969"/>
            <a:ext cx="12702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 dirty="0"/>
              <a:t>GERÊNCIA DE MANUTENÇÃO PREDIAL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BEA67EF-166B-2BB4-FDCA-FFD74B4FD406}"/>
              </a:ext>
            </a:extLst>
          </p:cNvPr>
          <p:cNvCxnSpPr>
            <a:cxnSpLocks/>
          </p:cNvCxnSpPr>
          <p:nvPr/>
        </p:nvCxnSpPr>
        <p:spPr>
          <a:xfrm>
            <a:off x="8809194" y="3984751"/>
            <a:ext cx="2728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hape 281">
            <a:extLst>
              <a:ext uri="{FF2B5EF4-FFF2-40B4-BE49-F238E27FC236}">
                <a16:creationId xmlns:a16="http://schemas.microsoft.com/office/drawing/2014/main" id="{420B5615-D45F-8B63-7E44-7EABD1C638C9}"/>
              </a:ext>
            </a:extLst>
          </p:cNvPr>
          <p:cNvSpPr/>
          <p:nvPr/>
        </p:nvSpPr>
        <p:spPr>
          <a:xfrm>
            <a:off x="9103289" y="3720510"/>
            <a:ext cx="12702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 dirty="0"/>
              <a:t>GERÊNCIA DE PROTOCOLO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/>
          <p:nvPr/>
        </p:nvSpPr>
        <p:spPr>
          <a:xfrm>
            <a:off x="4389332" y="1489148"/>
            <a:ext cx="2258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327" name="Shape 327"/>
          <p:cNvSpPr txBox="1"/>
          <p:nvPr/>
        </p:nvSpPr>
        <p:spPr>
          <a:xfrm>
            <a:off x="329200" y="939125"/>
            <a:ext cx="10277400" cy="446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DE APROVAÇÃO DE PROJETOS - SEMAP</a:t>
            </a:r>
          </a:p>
        </p:txBody>
      </p:sp>
      <p:cxnSp>
        <p:nvCxnSpPr>
          <p:cNvPr id="329" name="Shape 329"/>
          <p:cNvCxnSpPr>
            <a:stCxn id="326" idx="2"/>
            <a:endCxn id="330" idx="0"/>
          </p:cNvCxnSpPr>
          <p:nvPr/>
        </p:nvCxnSpPr>
        <p:spPr>
          <a:xfrm>
            <a:off x="5518682" y="1877948"/>
            <a:ext cx="0" cy="3374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31" name="Shape 331"/>
          <p:cNvSpPr/>
          <p:nvPr/>
        </p:nvSpPr>
        <p:spPr>
          <a:xfrm>
            <a:off x="5943907" y="2255428"/>
            <a:ext cx="22587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</p:txBody>
      </p:sp>
      <p:sp>
        <p:nvSpPr>
          <p:cNvPr id="332" name="Shape 332"/>
          <p:cNvSpPr/>
          <p:nvPr/>
        </p:nvSpPr>
        <p:spPr>
          <a:xfrm>
            <a:off x="6584394" y="2822596"/>
            <a:ext cx="1618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SUPERVISÃO DE PROJETOS PÚBLICOS</a:t>
            </a:r>
          </a:p>
        </p:txBody>
      </p:sp>
      <p:sp>
        <p:nvSpPr>
          <p:cNvPr id="333" name="Shape 333"/>
          <p:cNvSpPr/>
          <p:nvPr/>
        </p:nvSpPr>
        <p:spPr>
          <a:xfrm rot="-5400000">
            <a:off x="8242452" y="6455496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EXPEDIÇÃO DE DOCUMENTOS</a:t>
            </a:r>
          </a:p>
        </p:txBody>
      </p:sp>
      <p:sp>
        <p:nvSpPr>
          <p:cNvPr id="334" name="Shape 334"/>
          <p:cNvSpPr/>
          <p:nvPr/>
        </p:nvSpPr>
        <p:spPr>
          <a:xfrm>
            <a:off x="460404" y="2157114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ESPECIALISTA EM ARQUITETURA</a:t>
            </a:r>
          </a:p>
        </p:txBody>
      </p:sp>
      <p:cxnSp>
        <p:nvCxnSpPr>
          <p:cNvPr id="335" name="Shape 335"/>
          <p:cNvCxnSpPr>
            <a:endCxn id="336" idx="3"/>
          </p:cNvCxnSpPr>
          <p:nvPr/>
        </p:nvCxnSpPr>
        <p:spPr>
          <a:xfrm flipH="1">
            <a:off x="2274804" y="2727489"/>
            <a:ext cx="3224700" cy="3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36" name="Shape 336"/>
          <p:cNvSpPr/>
          <p:nvPr/>
        </p:nvSpPr>
        <p:spPr>
          <a:xfrm>
            <a:off x="460404" y="2591139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ESPECIALISTA EM ENGENHARIA</a:t>
            </a:r>
          </a:p>
        </p:txBody>
      </p:sp>
      <p:sp>
        <p:nvSpPr>
          <p:cNvPr id="337" name="Shape 337"/>
          <p:cNvSpPr/>
          <p:nvPr/>
        </p:nvSpPr>
        <p:spPr>
          <a:xfrm>
            <a:off x="460405" y="3642825"/>
            <a:ext cx="15972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ANALISTA DE PROJETOS E LICENÇAS</a:t>
            </a:r>
          </a:p>
        </p:txBody>
      </p:sp>
      <p:sp>
        <p:nvSpPr>
          <p:cNvPr id="338" name="Shape 338"/>
          <p:cNvSpPr/>
          <p:nvPr/>
        </p:nvSpPr>
        <p:spPr>
          <a:xfrm rot="-5400000">
            <a:off x="8653677" y="6455496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DE CONTROLE DE PROCESSOS</a:t>
            </a:r>
          </a:p>
        </p:txBody>
      </p:sp>
      <p:sp>
        <p:nvSpPr>
          <p:cNvPr id="339" name="Shape 339"/>
          <p:cNvSpPr/>
          <p:nvPr/>
        </p:nvSpPr>
        <p:spPr>
          <a:xfrm rot="-5400000">
            <a:off x="9064902" y="6455496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DE VISTORIAS</a:t>
            </a:r>
          </a:p>
        </p:txBody>
      </p:sp>
      <p:cxnSp>
        <p:nvCxnSpPr>
          <p:cNvPr id="340" name="Shape 340"/>
          <p:cNvCxnSpPr>
            <a:stCxn id="341" idx="2"/>
            <a:endCxn id="338" idx="3"/>
          </p:cNvCxnSpPr>
          <p:nvPr/>
        </p:nvCxnSpPr>
        <p:spPr>
          <a:xfrm flipH="1">
            <a:off x="9339777" y="5641446"/>
            <a:ext cx="5100" cy="29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42" name="Shape 342"/>
          <p:cNvCxnSpPr>
            <a:stCxn id="333" idx="3"/>
            <a:endCxn id="339" idx="3"/>
          </p:cNvCxnSpPr>
          <p:nvPr/>
        </p:nvCxnSpPr>
        <p:spPr>
          <a:xfrm rot="-5400000" flipH="1">
            <a:off x="9339552" y="5527146"/>
            <a:ext cx="600" cy="822600"/>
          </a:xfrm>
          <a:prstGeom prst="bentConnector3">
            <a:avLst>
              <a:gd name="adj1" fmla="val -2063736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43" name="Shape 343"/>
          <p:cNvSpPr/>
          <p:nvPr/>
        </p:nvSpPr>
        <p:spPr>
          <a:xfrm>
            <a:off x="7872482" y="1784315"/>
            <a:ext cx="2258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CONSELHO DO PLANO DIRETOR MUNICIPAL</a:t>
            </a:r>
          </a:p>
        </p:txBody>
      </p:sp>
      <p:cxnSp>
        <p:nvCxnSpPr>
          <p:cNvPr id="344" name="Shape 344"/>
          <p:cNvCxnSpPr>
            <a:stCxn id="332" idx="1"/>
          </p:cNvCxnSpPr>
          <p:nvPr/>
        </p:nvCxnSpPr>
        <p:spPr>
          <a:xfrm flipH="1">
            <a:off x="5523894" y="2991346"/>
            <a:ext cx="1060500" cy="3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45" name="Shape 345"/>
          <p:cNvSpPr/>
          <p:nvPr/>
        </p:nvSpPr>
        <p:spPr>
          <a:xfrm>
            <a:off x="460404" y="3025164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ESPECIALISTA EM COMPUTAÇÃO GRÁFICA</a:t>
            </a:r>
          </a:p>
        </p:txBody>
      </p:sp>
      <p:cxnSp>
        <p:nvCxnSpPr>
          <p:cNvPr id="346" name="Shape 346"/>
          <p:cNvCxnSpPr>
            <a:stCxn id="334" idx="3"/>
            <a:endCxn id="345" idx="3"/>
          </p:cNvCxnSpPr>
          <p:nvPr/>
        </p:nvCxnSpPr>
        <p:spPr>
          <a:xfrm>
            <a:off x="2274804" y="2325864"/>
            <a:ext cx="600" cy="868200"/>
          </a:xfrm>
          <a:prstGeom prst="bentConnector3">
            <a:avLst>
              <a:gd name="adj1" fmla="val 6854433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47" name="Shape 347"/>
          <p:cNvSpPr/>
          <p:nvPr/>
        </p:nvSpPr>
        <p:spPr>
          <a:xfrm>
            <a:off x="3139857" y="3049849"/>
            <a:ext cx="1814399" cy="3374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CHEFE DE EXPEDIENTE</a:t>
            </a:r>
          </a:p>
        </p:txBody>
      </p:sp>
      <p:cxnSp>
        <p:nvCxnSpPr>
          <p:cNvPr id="348" name="Shape 348"/>
          <p:cNvCxnSpPr>
            <a:stCxn id="347" idx="3"/>
          </p:cNvCxnSpPr>
          <p:nvPr/>
        </p:nvCxnSpPr>
        <p:spPr>
          <a:xfrm>
            <a:off x="4954257" y="3218599"/>
            <a:ext cx="569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49" name="Shape 349"/>
          <p:cNvSpPr/>
          <p:nvPr/>
        </p:nvSpPr>
        <p:spPr>
          <a:xfrm>
            <a:off x="8533970" y="5246265"/>
            <a:ext cx="15972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ADMINISTRATIVA</a:t>
            </a:r>
          </a:p>
        </p:txBody>
      </p:sp>
      <p:sp>
        <p:nvSpPr>
          <p:cNvPr id="330" name="Shape 330"/>
          <p:cNvSpPr/>
          <p:nvPr/>
        </p:nvSpPr>
        <p:spPr>
          <a:xfrm>
            <a:off x="4720095" y="5252297"/>
            <a:ext cx="15972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GEOPROCESSAMENTO</a:t>
            </a:r>
          </a:p>
        </p:txBody>
      </p:sp>
      <p:sp>
        <p:nvSpPr>
          <p:cNvPr id="350" name="Shape 350"/>
          <p:cNvSpPr/>
          <p:nvPr/>
        </p:nvSpPr>
        <p:spPr>
          <a:xfrm>
            <a:off x="2601775" y="5213735"/>
            <a:ext cx="15972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TOPOGRAFIA</a:t>
            </a:r>
          </a:p>
        </p:txBody>
      </p:sp>
      <p:sp>
        <p:nvSpPr>
          <p:cNvPr id="351" name="Shape 351"/>
          <p:cNvSpPr/>
          <p:nvPr/>
        </p:nvSpPr>
        <p:spPr>
          <a:xfrm>
            <a:off x="460395" y="5235447"/>
            <a:ext cx="15972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ANÁLISE DE PROJETOS</a:t>
            </a:r>
          </a:p>
        </p:txBody>
      </p:sp>
      <p:cxnSp>
        <p:nvCxnSpPr>
          <p:cNvPr id="352" name="Shape 352"/>
          <p:cNvCxnSpPr>
            <a:stCxn id="337" idx="0"/>
          </p:cNvCxnSpPr>
          <p:nvPr/>
        </p:nvCxnSpPr>
        <p:spPr>
          <a:xfrm rot="-5400000">
            <a:off x="5247055" y="-500625"/>
            <a:ext cx="155400" cy="8131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3" name="Shape 353"/>
          <p:cNvCxnSpPr>
            <a:stCxn id="349" idx="0"/>
          </p:cNvCxnSpPr>
          <p:nvPr/>
        </p:nvCxnSpPr>
        <p:spPr>
          <a:xfrm rot="10800000" flipH="1">
            <a:off x="9332570" y="3487665"/>
            <a:ext cx="25500" cy="175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4" name="Shape 354"/>
          <p:cNvCxnSpPr>
            <a:stCxn id="350" idx="0"/>
          </p:cNvCxnSpPr>
          <p:nvPr/>
        </p:nvCxnSpPr>
        <p:spPr>
          <a:xfrm rot="10800000">
            <a:off x="3400375" y="3498335"/>
            <a:ext cx="0" cy="171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5" name="Shape 355"/>
          <p:cNvCxnSpPr>
            <a:stCxn id="356" idx="0"/>
          </p:cNvCxnSpPr>
          <p:nvPr/>
        </p:nvCxnSpPr>
        <p:spPr>
          <a:xfrm rot="10800000" flipH="1">
            <a:off x="7382995" y="3476575"/>
            <a:ext cx="14400" cy="175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57" name="Shape 357"/>
          <p:cNvSpPr/>
          <p:nvPr/>
        </p:nvSpPr>
        <p:spPr>
          <a:xfrm>
            <a:off x="6584405" y="3632325"/>
            <a:ext cx="15972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ANALISTA DE PROCESSOS DE FISCALIZAÇÃO</a:t>
            </a:r>
          </a:p>
        </p:txBody>
      </p:sp>
      <p:sp>
        <p:nvSpPr>
          <p:cNvPr id="358" name="Shape 358"/>
          <p:cNvSpPr/>
          <p:nvPr/>
        </p:nvSpPr>
        <p:spPr>
          <a:xfrm>
            <a:off x="6584405" y="4423450"/>
            <a:ext cx="15972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DE CONTROLE URBANO</a:t>
            </a:r>
          </a:p>
        </p:txBody>
      </p:sp>
      <p:sp>
        <p:nvSpPr>
          <p:cNvPr id="356" name="Shape 356"/>
          <p:cNvSpPr/>
          <p:nvPr/>
        </p:nvSpPr>
        <p:spPr>
          <a:xfrm>
            <a:off x="6584395" y="5235475"/>
            <a:ext cx="15972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FISCALIZAÇÃO</a:t>
            </a:r>
          </a:p>
        </p:txBody>
      </p:sp>
      <p:cxnSp>
        <p:nvCxnSpPr>
          <p:cNvPr id="359" name="Shape 359"/>
          <p:cNvCxnSpPr>
            <a:stCxn id="351" idx="0"/>
            <a:endCxn id="337" idx="2"/>
          </p:cNvCxnSpPr>
          <p:nvPr/>
        </p:nvCxnSpPr>
        <p:spPr>
          <a:xfrm rot="10800000">
            <a:off x="1258995" y="4260747"/>
            <a:ext cx="0" cy="97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60" name="Shape 360"/>
          <p:cNvSpPr/>
          <p:nvPr/>
        </p:nvSpPr>
        <p:spPr>
          <a:xfrm rot="-5400000">
            <a:off x="161677" y="6499218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ANÁLISE DE PROJETOS ARQUITETÔNICOS</a:t>
            </a:r>
          </a:p>
        </p:txBody>
      </p:sp>
      <p:sp>
        <p:nvSpPr>
          <p:cNvPr id="361" name="Shape 361"/>
          <p:cNvSpPr/>
          <p:nvPr/>
        </p:nvSpPr>
        <p:spPr>
          <a:xfrm rot="-5400000">
            <a:off x="984127" y="6499218"/>
            <a:ext cx="1372200" cy="3374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DE ANÁLISE DE PROJETOS URBANÍSTICOS</a:t>
            </a:r>
          </a:p>
        </p:txBody>
      </p:sp>
      <p:cxnSp>
        <p:nvCxnSpPr>
          <p:cNvPr id="362" name="Shape 362"/>
          <p:cNvCxnSpPr/>
          <p:nvPr/>
        </p:nvCxnSpPr>
        <p:spPr>
          <a:xfrm flipH="1">
            <a:off x="1261702" y="5685168"/>
            <a:ext cx="2400" cy="17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63" name="Shape 363"/>
          <p:cNvCxnSpPr>
            <a:stCxn id="360" idx="3"/>
            <a:endCxn id="361" idx="3"/>
          </p:cNvCxnSpPr>
          <p:nvPr/>
        </p:nvCxnSpPr>
        <p:spPr>
          <a:xfrm rot="-5400000" flipH="1">
            <a:off x="1258627" y="5571018"/>
            <a:ext cx="600" cy="822299"/>
          </a:xfrm>
          <a:prstGeom prst="bentConnector3">
            <a:avLst>
              <a:gd name="adj1" fmla="val -2472391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64" name="Shape 364"/>
          <p:cNvSpPr/>
          <p:nvPr/>
        </p:nvSpPr>
        <p:spPr>
          <a:xfrm rot="-5400000">
            <a:off x="2714277" y="6519371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TOPOGRAFIA</a:t>
            </a:r>
          </a:p>
        </p:txBody>
      </p:sp>
      <p:cxnSp>
        <p:nvCxnSpPr>
          <p:cNvPr id="365" name="Shape 365"/>
          <p:cNvCxnSpPr>
            <a:stCxn id="364" idx="3"/>
            <a:endCxn id="350" idx="2"/>
          </p:cNvCxnSpPr>
          <p:nvPr/>
        </p:nvCxnSpPr>
        <p:spPr>
          <a:xfrm rot="10800000">
            <a:off x="3400377" y="5659721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66" name="Shape 366"/>
          <p:cNvSpPr/>
          <p:nvPr/>
        </p:nvSpPr>
        <p:spPr>
          <a:xfrm>
            <a:off x="2880645" y="2258860"/>
            <a:ext cx="2258699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</p:txBody>
      </p:sp>
      <p:cxnSp>
        <p:nvCxnSpPr>
          <p:cNvPr id="367" name="Shape 367"/>
          <p:cNvCxnSpPr>
            <a:stCxn id="366" idx="3"/>
            <a:endCxn id="331" idx="1"/>
          </p:cNvCxnSpPr>
          <p:nvPr/>
        </p:nvCxnSpPr>
        <p:spPr>
          <a:xfrm rot="10800000" flipH="1">
            <a:off x="5139345" y="2424310"/>
            <a:ext cx="804600" cy="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68" name="Shape 368"/>
          <p:cNvCxnSpPr/>
          <p:nvPr/>
        </p:nvCxnSpPr>
        <p:spPr>
          <a:xfrm rot="10800000">
            <a:off x="5522282" y="2020950"/>
            <a:ext cx="235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491BA5B2-852A-4B8A-55C7-FBE0E40CE8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380"/>
          <p:cNvSpPr/>
          <p:nvPr/>
        </p:nvSpPr>
        <p:spPr>
          <a:xfrm>
            <a:off x="4324347" y="1965709"/>
            <a:ext cx="2258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381" name="Shape 381"/>
          <p:cNvSpPr txBox="1"/>
          <p:nvPr/>
        </p:nvSpPr>
        <p:spPr>
          <a:xfrm>
            <a:off x="354952" y="1188250"/>
            <a:ext cx="10277400" cy="446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DE TURISMO, </a:t>
            </a:r>
            <a:r>
              <a:rPr lang="pt-BR" sz="1800" b="1">
                <a:solidFill>
                  <a:schemeClr val="dk1"/>
                </a:solidFill>
              </a:rPr>
              <a:t>EMPREENDEDORISMO E</a:t>
            </a:r>
            <a:r>
              <a:rPr lang="pt-BR" sz="1800" b="1"/>
              <a:t> CULTURA - SETEC</a:t>
            </a:r>
          </a:p>
        </p:txBody>
      </p:sp>
      <p:cxnSp>
        <p:nvCxnSpPr>
          <p:cNvPr id="383" name="Shape 383"/>
          <p:cNvCxnSpPr>
            <a:cxnSpLocks/>
          </p:cNvCxnSpPr>
          <p:nvPr/>
        </p:nvCxnSpPr>
        <p:spPr>
          <a:xfrm>
            <a:off x="5458672" y="2364771"/>
            <a:ext cx="0" cy="151611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85" name="Shape 385"/>
          <p:cNvSpPr/>
          <p:nvPr/>
        </p:nvSpPr>
        <p:spPr>
          <a:xfrm>
            <a:off x="4324347" y="2501956"/>
            <a:ext cx="22587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</p:txBody>
      </p:sp>
      <p:sp>
        <p:nvSpPr>
          <p:cNvPr id="386" name="Shape 386"/>
          <p:cNvSpPr/>
          <p:nvPr/>
        </p:nvSpPr>
        <p:spPr>
          <a:xfrm>
            <a:off x="6508914" y="3064937"/>
            <a:ext cx="1618199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ASSESSORIA DE DESENVOLVIMENTO CULTURAL</a:t>
            </a:r>
          </a:p>
        </p:txBody>
      </p:sp>
      <p:sp>
        <p:nvSpPr>
          <p:cNvPr id="387" name="Shape 387"/>
          <p:cNvSpPr/>
          <p:nvPr/>
        </p:nvSpPr>
        <p:spPr>
          <a:xfrm>
            <a:off x="1283557" y="4119386"/>
            <a:ext cx="1597199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DE EVENTOS</a:t>
            </a:r>
          </a:p>
        </p:txBody>
      </p:sp>
      <p:sp>
        <p:nvSpPr>
          <p:cNvPr id="388" name="Shape 388"/>
          <p:cNvSpPr/>
          <p:nvPr/>
        </p:nvSpPr>
        <p:spPr>
          <a:xfrm>
            <a:off x="7877247" y="2230680"/>
            <a:ext cx="2258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CONSELHO MUNICIPAL DE TURISMO - COMTUR</a:t>
            </a:r>
          </a:p>
        </p:txBody>
      </p:sp>
      <p:cxnSp>
        <p:nvCxnSpPr>
          <p:cNvPr id="389" name="Shape 389"/>
          <p:cNvCxnSpPr>
            <a:endCxn id="388" idx="1"/>
          </p:cNvCxnSpPr>
          <p:nvPr/>
        </p:nvCxnSpPr>
        <p:spPr>
          <a:xfrm rot="10800000" flipH="1">
            <a:off x="5461647" y="2425080"/>
            <a:ext cx="2415600" cy="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cxnSp>
        <p:nvCxnSpPr>
          <p:cNvPr id="390" name="Shape 390"/>
          <p:cNvCxnSpPr>
            <a:stCxn id="386" idx="1"/>
          </p:cNvCxnSpPr>
          <p:nvPr/>
        </p:nvCxnSpPr>
        <p:spPr>
          <a:xfrm rot="10800000">
            <a:off x="5458914" y="3281687"/>
            <a:ext cx="1050000" cy="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91" name="Shape 391"/>
          <p:cNvSpPr/>
          <p:nvPr/>
        </p:nvSpPr>
        <p:spPr>
          <a:xfrm>
            <a:off x="3074872" y="2963201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CHEFE DE EXPEDIENTE</a:t>
            </a:r>
          </a:p>
        </p:txBody>
      </p:sp>
      <p:cxnSp>
        <p:nvCxnSpPr>
          <p:cNvPr id="392" name="Shape 392"/>
          <p:cNvCxnSpPr>
            <a:stCxn id="391" idx="3"/>
          </p:cNvCxnSpPr>
          <p:nvPr/>
        </p:nvCxnSpPr>
        <p:spPr>
          <a:xfrm>
            <a:off x="4889272" y="3131951"/>
            <a:ext cx="569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93" name="Shape 393"/>
          <p:cNvSpPr/>
          <p:nvPr/>
        </p:nvSpPr>
        <p:spPr>
          <a:xfrm>
            <a:off x="1283550" y="5137971"/>
            <a:ext cx="1164299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TURISMO</a:t>
            </a:r>
          </a:p>
        </p:txBody>
      </p:sp>
      <p:sp>
        <p:nvSpPr>
          <p:cNvPr id="394" name="Shape 394"/>
          <p:cNvSpPr/>
          <p:nvPr/>
        </p:nvSpPr>
        <p:spPr>
          <a:xfrm rot="-5400000">
            <a:off x="921950" y="6415464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MARKETING</a:t>
            </a:r>
          </a:p>
        </p:txBody>
      </p:sp>
      <p:sp>
        <p:nvSpPr>
          <p:cNvPr id="395" name="Shape 395"/>
          <p:cNvSpPr/>
          <p:nvPr/>
        </p:nvSpPr>
        <p:spPr>
          <a:xfrm rot="-5400000">
            <a:off x="1419471" y="6415464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DE RECEPTIVO</a:t>
            </a:r>
          </a:p>
        </p:txBody>
      </p:sp>
      <p:cxnSp>
        <p:nvCxnSpPr>
          <p:cNvPr id="396" name="Shape 396"/>
          <p:cNvCxnSpPr>
            <a:stCxn id="394" idx="3"/>
            <a:endCxn id="395" idx="3"/>
          </p:cNvCxnSpPr>
          <p:nvPr/>
        </p:nvCxnSpPr>
        <p:spPr>
          <a:xfrm rot="-5400000" flipH="1">
            <a:off x="1856450" y="5649714"/>
            <a:ext cx="600" cy="4974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97" name="Shape 397"/>
          <p:cNvSpPr/>
          <p:nvPr/>
        </p:nvSpPr>
        <p:spPr>
          <a:xfrm>
            <a:off x="2880750" y="5137971"/>
            <a:ext cx="11643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PLANEJAMENTO DE EVENTOS</a:t>
            </a:r>
          </a:p>
        </p:txBody>
      </p:sp>
      <p:sp>
        <p:nvSpPr>
          <p:cNvPr id="384" name="Shape 384"/>
          <p:cNvSpPr/>
          <p:nvPr/>
        </p:nvSpPr>
        <p:spPr>
          <a:xfrm>
            <a:off x="5569166" y="5269825"/>
            <a:ext cx="1164300" cy="554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GERÊNCIA DE SELEÇÃO E ORDENAMENTO TURÍSTICO</a:t>
            </a:r>
          </a:p>
        </p:txBody>
      </p:sp>
      <p:sp>
        <p:nvSpPr>
          <p:cNvPr id="398" name="Shape 398"/>
          <p:cNvSpPr/>
          <p:nvPr/>
        </p:nvSpPr>
        <p:spPr>
          <a:xfrm>
            <a:off x="8208231" y="5137962"/>
            <a:ext cx="11643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PROMOÇÃO À CULTURA</a:t>
            </a:r>
          </a:p>
        </p:txBody>
      </p:sp>
      <p:sp>
        <p:nvSpPr>
          <p:cNvPr id="399" name="Shape 399"/>
          <p:cNvSpPr/>
          <p:nvPr/>
        </p:nvSpPr>
        <p:spPr>
          <a:xfrm rot="-5400000">
            <a:off x="2528042" y="6415464"/>
            <a:ext cx="1372200" cy="3374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APOIO LOGÍSTICO</a:t>
            </a:r>
          </a:p>
        </p:txBody>
      </p:sp>
      <p:sp>
        <p:nvSpPr>
          <p:cNvPr id="400" name="Shape 400"/>
          <p:cNvSpPr/>
          <p:nvPr/>
        </p:nvSpPr>
        <p:spPr>
          <a:xfrm rot="-5400000">
            <a:off x="3025563" y="6415464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 dirty="0">
                <a:solidFill>
                  <a:schemeClr val="dk1"/>
                </a:solidFill>
              </a:rPr>
              <a:t>SUBGERÊNCIA DE PRODUÇÃO DE EVENTOS</a:t>
            </a:r>
          </a:p>
        </p:txBody>
      </p:sp>
      <p:cxnSp>
        <p:nvCxnSpPr>
          <p:cNvPr id="401" name="Shape 401"/>
          <p:cNvCxnSpPr>
            <a:stCxn id="399" idx="3"/>
            <a:endCxn id="400" idx="3"/>
          </p:cNvCxnSpPr>
          <p:nvPr/>
        </p:nvCxnSpPr>
        <p:spPr>
          <a:xfrm rot="-5400000" flipH="1">
            <a:off x="3462542" y="5649714"/>
            <a:ext cx="600" cy="497399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02" name="Shape 402"/>
          <p:cNvSpPr/>
          <p:nvPr/>
        </p:nvSpPr>
        <p:spPr>
          <a:xfrm rot="-5400000">
            <a:off x="7860381" y="6368511"/>
            <a:ext cx="1372200" cy="431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PROMOÇÃO E DISTRIBUIÇÃO DE ATIV. CULTURAL</a:t>
            </a:r>
          </a:p>
        </p:txBody>
      </p:sp>
      <p:sp>
        <p:nvSpPr>
          <p:cNvPr id="403" name="Shape 403"/>
          <p:cNvSpPr/>
          <p:nvPr/>
        </p:nvSpPr>
        <p:spPr>
          <a:xfrm rot="-5400000">
            <a:off x="8404857" y="6415464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DE APOIO AO ARTESÃO</a:t>
            </a:r>
          </a:p>
        </p:txBody>
      </p:sp>
      <p:cxnSp>
        <p:nvCxnSpPr>
          <p:cNvPr id="404" name="Shape 404"/>
          <p:cNvCxnSpPr>
            <a:stCxn id="402" idx="3"/>
            <a:endCxn id="403" idx="3"/>
          </p:cNvCxnSpPr>
          <p:nvPr/>
        </p:nvCxnSpPr>
        <p:spPr>
          <a:xfrm rot="-5400000" flipH="1">
            <a:off x="8818431" y="5626161"/>
            <a:ext cx="600" cy="5445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5" name="Shape 405"/>
          <p:cNvCxnSpPr>
            <a:stCxn id="398" idx="0"/>
            <a:endCxn id="387" idx="0"/>
          </p:cNvCxnSpPr>
          <p:nvPr/>
        </p:nvCxnSpPr>
        <p:spPr>
          <a:xfrm rot="5400000" flipH="1">
            <a:off x="4926981" y="1274562"/>
            <a:ext cx="1018500" cy="6708300"/>
          </a:xfrm>
          <a:prstGeom prst="bentConnector3">
            <a:avLst>
              <a:gd name="adj1" fmla="val 12338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6" name="Shape 406"/>
          <p:cNvCxnSpPr>
            <a:stCxn id="393" idx="0"/>
            <a:endCxn id="397" idx="0"/>
          </p:cNvCxnSpPr>
          <p:nvPr/>
        </p:nvCxnSpPr>
        <p:spPr>
          <a:xfrm rot="-5400000" flipH="1">
            <a:off x="2664000" y="4339671"/>
            <a:ext cx="600" cy="1597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7" name="Shape 407"/>
          <p:cNvCxnSpPr>
            <a:stCxn id="393" idx="2"/>
          </p:cNvCxnSpPr>
          <p:nvPr/>
        </p:nvCxnSpPr>
        <p:spPr>
          <a:xfrm>
            <a:off x="1865700" y="5584071"/>
            <a:ext cx="0" cy="8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8" name="Shape 408"/>
          <p:cNvCxnSpPr>
            <a:stCxn id="397" idx="2"/>
          </p:cNvCxnSpPr>
          <p:nvPr/>
        </p:nvCxnSpPr>
        <p:spPr>
          <a:xfrm>
            <a:off x="3462900" y="5584071"/>
            <a:ext cx="0" cy="8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9" name="Shape 409"/>
          <p:cNvCxnSpPr>
            <a:stCxn id="387" idx="2"/>
          </p:cNvCxnSpPr>
          <p:nvPr/>
        </p:nvCxnSpPr>
        <p:spPr>
          <a:xfrm>
            <a:off x="2082157" y="4737386"/>
            <a:ext cx="0" cy="17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10" name="Shape 410"/>
          <p:cNvCxnSpPr>
            <a:stCxn id="398" idx="2"/>
          </p:cNvCxnSpPr>
          <p:nvPr/>
        </p:nvCxnSpPr>
        <p:spPr>
          <a:xfrm>
            <a:off x="8790381" y="5584062"/>
            <a:ext cx="0" cy="8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11" name="Shape 411"/>
          <p:cNvSpPr/>
          <p:nvPr/>
        </p:nvSpPr>
        <p:spPr>
          <a:xfrm>
            <a:off x="6280182" y="4119386"/>
            <a:ext cx="15972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DE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EMPREENDEDORISMO </a:t>
            </a:r>
          </a:p>
        </p:txBody>
      </p:sp>
      <p:cxnSp>
        <p:nvCxnSpPr>
          <p:cNvPr id="412" name="Shape 412"/>
          <p:cNvCxnSpPr>
            <a:stCxn id="411" idx="0"/>
          </p:cNvCxnSpPr>
          <p:nvPr/>
        </p:nvCxnSpPr>
        <p:spPr>
          <a:xfrm rot="10800000">
            <a:off x="7078782" y="3880886"/>
            <a:ext cx="0" cy="23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6D8F39C6-2AA2-A57D-3F4A-CC6015D703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  <p:sp>
        <p:nvSpPr>
          <p:cNvPr id="4" name="Shape 384">
            <a:extLst>
              <a:ext uri="{FF2B5EF4-FFF2-40B4-BE49-F238E27FC236}">
                <a16:creationId xmlns:a16="http://schemas.microsoft.com/office/drawing/2014/main" id="{E5E23954-ED5A-4E1A-35E6-8F1D9907EFCB}"/>
              </a:ext>
            </a:extLst>
          </p:cNvPr>
          <p:cNvSpPr/>
          <p:nvPr/>
        </p:nvSpPr>
        <p:spPr>
          <a:xfrm>
            <a:off x="4271931" y="5253737"/>
            <a:ext cx="1164300" cy="554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GERÊNCIA DE SALVAMENTO MARÍTIMO</a:t>
            </a:r>
          </a:p>
        </p:txBody>
      </p:sp>
      <p:cxnSp>
        <p:nvCxnSpPr>
          <p:cNvPr id="5" name="Shape 383">
            <a:extLst>
              <a:ext uri="{FF2B5EF4-FFF2-40B4-BE49-F238E27FC236}">
                <a16:creationId xmlns:a16="http://schemas.microsoft.com/office/drawing/2014/main" id="{BE25972F-18E0-5691-5EAD-8EFC2ADC636F}"/>
              </a:ext>
            </a:extLst>
          </p:cNvPr>
          <p:cNvCxnSpPr>
            <a:cxnSpLocks/>
          </p:cNvCxnSpPr>
          <p:nvPr/>
        </p:nvCxnSpPr>
        <p:spPr>
          <a:xfrm>
            <a:off x="5173972" y="3880886"/>
            <a:ext cx="0" cy="116067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" name="Shape 406">
            <a:extLst>
              <a:ext uri="{FF2B5EF4-FFF2-40B4-BE49-F238E27FC236}">
                <a16:creationId xmlns:a16="http://schemas.microsoft.com/office/drawing/2014/main" id="{9BB5E0BA-957A-3C01-07A9-525B20DB9887}"/>
              </a:ext>
            </a:extLst>
          </p:cNvPr>
          <p:cNvCxnSpPr/>
          <p:nvPr/>
        </p:nvCxnSpPr>
        <p:spPr>
          <a:xfrm rot="16200000" flipH="1">
            <a:off x="5399581" y="4455137"/>
            <a:ext cx="600" cy="1597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424"/>
          <p:cNvSpPr/>
          <p:nvPr/>
        </p:nvSpPr>
        <p:spPr>
          <a:xfrm>
            <a:off x="3924466" y="1984458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425" name="Shape 425"/>
          <p:cNvSpPr txBox="1"/>
          <p:nvPr/>
        </p:nvSpPr>
        <p:spPr>
          <a:xfrm>
            <a:off x="692300" y="1167724"/>
            <a:ext cx="9126300" cy="48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ESPORTE E LAZER - SEL</a:t>
            </a:r>
          </a:p>
        </p:txBody>
      </p:sp>
      <p:sp>
        <p:nvSpPr>
          <p:cNvPr id="427" name="Shape 427"/>
          <p:cNvSpPr/>
          <p:nvPr/>
        </p:nvSpPr>
        <p:spPr>
          <a:xfrm>
            <a:off x="6740025" y="5176924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GERÊNCIA ADMINISTRATIVA</a:t>
            </a:r>
          </a:p>
        </p:txBody>
      </p:sp>
      <p:cxnSp>
        <p:nvCxnSpPr>
          <p:cNvPr id="428" name="Shape 428"/>
          <p:cNvCxnSpPr>
            <a:stCxn id="424" idx="2"/>
            <a:endCxn id="429" idx="0"/>
          </p:cNvCxnSpPr>
          <p:nvPr/>
        </p:nvCxnSpPr>
        <p:spPr>
          <a:xfrm flipH="1">
            <a:off x="5012716" y="2540958"/>
            <a:ext cx="41100" cy="3043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30" name="Shape 430"/>
          <p:cNvSpPr/>
          <p:nvPr/>
        </p:nvSpPr>
        <p:spPr>
          <a:xfrm>
            <a:off x="3924453" y="3044474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</p:txBody>
      </p:sp>
      <p:cxnSp>
        <p:nvCxnSpPr>
          <p:cNvPr id="431" name="Shape 431"/>
          <p:cNvCxnSpPr/>
          <p:nvPr/>
        </p:nvCxnSpPr>
        <p:spPr>
          <a:xfrm>
            <a:off x="5060108" y="5602278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32" name="Shape 432"/>
          <p:cNvSpPr/>
          <p:nvPr/>
        </p:nvSpPr>
        <p:spPr>
          <a:xfrm>
            <a:off x="1392516" y="2624420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CONSELHO MUNICIPAL DE ESPORTE</a:t>
            </a:r>
          </a:p>
        </p:txBody>
      </p:sp>
      <p:sp>
        <p:nvSpPr>
          <p:cNvPr id="433" name="Shape 433"/>
          <p:cNvSpPr/>
          <p:nvPr/>
        </p:nvSpPr>
        <p:spPr>
          <a:xfrm>
            <a:off x="6389023" y="3705959"/>
            <a:ext cx="22587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CHEFE DE EXPEDIENTE</a:t>
            </a:r>
          </a:p>
        </p:txBody>
      </p:sp>
      <p:cxnSp>
        <p:nvCxnSpPr>
          <p:cNvPr id="434" name="Shape 434"/>
          <p:cNvCxnSpPr/>
          <p:nvPr/>
        </p:nvCxnSpPr>
        <p:spPr>
          <a:xfrm flipH="1">
            <a:off x="3651216" y="2865720"/>
            <a:ext cx="1352400" cy="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cxnSp>
        <p:nvCxnSpPr>
          <p:cNvPr id="435" name="Shape 435"/>
          <p:cNvCxnSpPr>
            <a:stCxn id="433" idx="1"/>
          </p:cNvCxnSpPr>
          <p:nvPr/>
        </p:nvCxnSpPr>
        <p:spPr>
          <a:xfrm flipH="1">
            <a:off x="5047123" y="3874709"/>
            <a:ext cx="1341900" cy="1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36" name="Shape 436"/>
          <p:cNvSpPr/>
          <p:nvPr/>
        </p:nvSpPr>
        <p:spPr>
          <a:xfrm>
            <a:off x="2521882" y="6357770"/>
            <a:ext cx="2258699" cy="5564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SUBGERÊNCIA DE ATIVIDADE ESPORTIVA</a:t>
            </a:r>
          </a:p>
        </p:txBody>
      </p:sp>
      <p:sp>
        <p:nvSpPr>
          <p:cNvPr id="437" name="Shape 437"/>
          <p:cNvSpPr/>
          <p:nvPr/>
        </p:nvSpPr>
        <p:spPr>
          <a:xfrm>
            <a:off x="5744982" y="6357770"/>
            <a:ext cx="2258700" cy="5564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>
                <a:solidFill>
                  <a:schemeClr val="dk1"/>
                </a:solidFill>
              </a:rPr>
              <a:t>SUBGERÊNCIA DE ATIVIDADE DE LAZER</a:t>
            </a:r>
          </a:p>
        </p:txBody>
      </p:sp>
      <p:cxnSp>
        <p:nvCxnSpPr>
          <p:cNvPr id="438" name="Shape 438"/>
          <p:cNvCxnSpPr>
            <a:stCxn id="436" idx="0"/>
            <a:endCxn id="437" idx="0"/>
          </p:cNvCxnSpPr>
          <p:nvPr/>
        </p:nvCxnSpPr>
        <p:spPr>
          <a:xfrm rot="-5400000" flipH="1">
            <a:off x="5262532" y="4746470"/>
            <a:ext cx="600" cy="3223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39" name="Shape 439"/>
          <p:cNvCxnSpPr/>
          <p:nvPr/>
        </p:nvCxnSpPr>
        <p:spPr>
          <a:xfrm>
            <a:off x="5004332" y="5689595"/>
            <a:ext cx="0" cy="44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40" name="Shape 440"/>
          <p:cNvSpPr/>
          <p:nvPr/>
        </p:nvSpPr>
        <p:spPr>
          <a:xfrm>
            <a:off x="3883252" y="4440962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COORDENAÇÃO DE EVENTOS ESPORTIVOS</a:t>
            </a:r>
          </a:p>
        </p:txBody>
      </p:sp>
      <p:sp>
        <p:nvSpPr>
          <p:cNvPr id="441" name="Shape 441"/>
          <p:cNvSpPr/>
          <p:nvPr/>
        </p:nvSpPr>
        <p:spPr>
          <a:xfrm>
            <a:off x="3883253" y="5183945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GERÊNCIA DE ESPORTE E LAZER</a:t>
            </a:r>
          </a:p>
        </p:txBody>
      </p:sp>
      <p:cxnSp>
        <p:nvCxnSpPr>
          <p:cNvPr id="442" name="Shape 442"/>
          <p:cNvCxnSpPr>
            <a:endCxn id="427" idx="0"/>
          </p:cNvCxnSpPr>
          <p:nvPr/>
        </p:nvCxnSpPr>
        <p:spPr>
          <a:xfrm>
            <a:off x="5036775" y="4213024"/>
            <a:ext cx="2832600" cy="963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3F174813-92F0-6D1C-AA08-46B638DE60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454"/>
          <p:cNvSpPr/>
          <p:nvPr/>
        </p:nvSpPr>
        <p:spPr>
          <a:xfrm>
            <a:off x="4670937" y="1489148"/>
            <a:ext cx="2258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455" name="Shape 455"/>
          <p:cNvSpPr txBox="1"/>
          <p:nvPr/>
        </p:nvSpPr>
        <p:spPr>
          <a:xfrm>
            <a:off x="329200" y="939125"/>
            <a:ext cx="10277400" cy="446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DO TRABALHO, ASSISTÊNCIA E CIDADANIA - SETAC</a:t>
            </a:r>
          </a:p>
        </p:txBody>
      </p:sp>
      <p:cxnSp>
        <p:nvCxnSpPr>
          <p:cNvPr id="457" name="Shape 457"/>
          <p:cNvCxnSpPr>
            <a:stCxn id="454" idx="2"/>
            <a:endCxn id="458" idx="0"/>
          </p:cNvCxnSpPr>
          <p:nvPr/>
        </p:nvCxnSpPr>
        <p:spPr>
          <a:xfrm flipH="1">
            <a:off x="5790687" y="1877948"/>
            <a:ext cx="9600" cy="3174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59" name="Shape 459"/>
          <p:cNvSpPr/>
          <p:nvPr/>
        </p:nvSpPr>
        <p:spPr>
          <a:xfrm>
            <a:off x="4670937" y="2025395"/>
            <a:ext cx="22587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</p:txBody>
      </p:sp>
      <p:sp>
        <p:nvSpPr>
          <p:cNvPr id="460" name="Shape 460"/>
          <p:cNvSpPr/>
          <p:nvPr/>
        </p:nvSpPr>
        <p:spPr>
          <a:xfrm>
            <a:off x="2830985" y="2431736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CHEFE DE EXPEDIENTE</a:t>
            </a:r>
          </a:p>
        </p:txBody>
      </p:sp>
      <p:cxnSp>
        <p:nvCxnSpPr>
          <p:cNvPr id="461" name="Shape 461"/>
          <p:cNvCxnSpPr/>
          <p:nvPr/>
        </p:nvCxnSpPr>
        <p:spPr>
          <a:xfrm rot="10800000">
            <a:off x="4650593" y="2622675"/>
            <a:ext cx="1169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62" name="Shape 462"/>
          <p:cNvSpPr/>
          <p:nvPr/>
        </p:nvSpPr>
        <p:spPr>
          <a:xfrm>
            <a:off x="2830984" y="3977250"/>
            <a:ext cx="18144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COORDENAÇÃO DE POLÍTICA HABITACIONAL</a:t>
            </a:r>
          </a:p>
        </p:txBody>
      </p:sp>
      <p:sp>
        <p:nvSpPr>
          <p:cNvPr id="463" name="Shape 463"/>
          <p:cNvSpPr/>
          <p:nvPr/>
        </p:nvSpPr>
        <p:spPr>
          <a:xfrm rot="-5400000">
            <a:off x="2302267" y="6534774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DO CENTRO DE REFERÊNCIA A ASSISTÊNCIA SOCIAL I</a:t>
            </a:r>
          </a:p>
        </p:txBody>
      </p:sp>
      <p:sp>
        <p:nvSpPr>
          <p:cNvPr id="464" name="Shape 464"/>
          <p:cNvSpPr/>
          <p:nvPr/>
        </p:nvSpPr>
        <p:spPr>
          <a:xfrm>
            <a:off x="2830985" y="2906027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DO SUAS</a:t>
            </a:r>
          </a:p>
        </p:txBody>
      </p:sp>
      <p:cxnSp>
        <p:nvCxnSpPr>
          <p:cNvPr id="465" name="Shape 465"/>
          <p:cNvCxnSpPr/>
          <p:nvPr/>
        </p:nvCxnSpPr>
        <p:spPr>
          <a:xfrm flipH="1">
            <a:off x="5075237" y="3303025"/>
            <a:ext cx="705900" cy="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66" name="Shape 466"/>
          <p:cNvSpPr/>
          <p:nvPr/>
        </p:nvSpPr>
        <p:spPr>
          <a:xfrm>
            <a:off x="2830985" y="3340052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DO BOLSA FAMÍLIA</a:t>
            </a:r>
          </a:p>
        </p:txBody>
      </p:sp>
      <p:cxnSp>
        <p:nvCxnSpPr>
          <p:cNvPr id="467" name="Shape 467"/>
          <p:cNvCxnSpPr>
            <a:stCxn id="464" idx="3"/>
            <a:endCxn id="466" idx="3"/>
          </p:cNvCxnSpPr>
          <p:nvPr/>
        </p:nvCxnSpPr>
        <p:spPr>
          <a:xfrm>
            <a:off x="4645385" y="3074777"/>
            <a:ext cx="600" cy="434100"/>
          </a:xfrm>
          <a:prstGeom prst="bentConnector3">
            <a:avLst>
              <a:gd name="adj1" fmla="val 70112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68" name="Shape 468"/>
          <p:cNvCxnSpPr>
            <a:stCxn id="462" idx="3"/>
          </p:cNvCxnSpPr>
          <p:nvPr/>
        </p:nvCxnSpPr>
        <p:spPr>
          <a:xfrm>
            <a:off x="4645384" y="4286250"/>
            <a:ext cx="4238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69" name="Shape 469"/>
          <p:cNvSpPr/>
          <p:nvPr/>
        </p:nvSpPr>
        <p:spPr>
          <a:xfrm>
            <a:off x="6561686" y="3993600"/>
            <a:ext cx="18144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COORDENAÇÃO DE ABORDAGEM E ACOLHIMENTO</a:t>
            </a:r>
          </a:p>
        </p:txBody>
      </p:sp>
      <p:sp>
        <p:nvSpPr>
          <p:cNvPr id="470" name="Shape 470"/>
          <p:cNvSpPr/>
          <p:nvPr/>
        </p:nvSpPr>
        <p:spPr>
          <a:xfrm>
            <a:off x="8668286" y="3993600"/>
            <a:ext cx="18144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COORDENAÇÃO DE PROGRAMA DE ERRADICAÇÃO</a:t>
            </a:r>
          </a:p>
        </p:txBody>
      </p:sp>
      <p:sp>
        <p:nvSpPr>
          <p:cNvPr id="471" name="Shape 471"/>
          <p:cNvSpPr/>
          <p:nvPr/>
        </p:nvSpPr>
        <p:spPr>
          <a:xfrm>
            <a:off x="2730746" y="5044461"/>
            <a:ext cx="13476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PROTEÇÃO BÁSICA</a:t>
            </a:r>
          </a:p>
        </p:txBody>
      </p:sp>
      <p:sp>
        <p:nvSpPr>
          <p:cNvPr id="458" name="Shape 458"/>
          <p:cNvSpPr/>
          <p:nvPr/>
        </p:nvSpPr>
        <p:spPr>
          <a:xfrm>
            <a:off x="5116887" y="5051950"/>
            <a:ext cx="13476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DE PROTEÇÃO SOCIAL ESPECIAL</a:t>
            </a:r>
          </a:p>
        </p:txBody>
      </p:sp>
      <p:sp>
        <p:nvSpPr>
          <p:cNvPr id="472" name="Shape 472"/>
          <p:cNvSpPr/>
          <p:nvPr/>
        </p:nvSpPr>
        <p:spPr>
          <a:xfrm>
            <a:off x="9030787" y="5051950"/>
            <a:ext cx="13476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GERÊNCIA  ADMINISTRATIVA</a:t>
            </a:r>
          </a:p>
        </p:txBody>
      </p:sp>
      <p:cxnSp>
        <p:nvCxnSpPr>
          <p:cNvPr id="473" name="Shape 473"/>
          <p:cNvCxnSpPr>
            <a:stCxn id="471" idx="0"/>
            <a:endCxn id="472" idx="0"/>
          </p:cNvCxnSpPr>
          <p:nvPr/>
        </p:nvCxnSpPr>
        <p:spPr>
          <a:xfrm rot="-5400000" flipH="1">
            <a:off x="6550796" y="1898211"/>
            <a:ext cx="7500" cy="6300000"/>
          </a:xfrm>
          <a:prstGeom prst="bentConnector3">
            <a:avLst>
              <a:gd name="adj1" fmla="val -317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74" name="Shape 474"/>
          <p:cNvSpPr/>
          <p:nvPr/>
        </p:nvSpPr>
        <p:spPr>
          <a:xfrm rot="-5400000">
            <a:off x="2713492" y="6534774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DO CENTRO DE REFERÊNCIA A ASSISTÊNCIA SOCIAL II</a:t>
            </a:r>
          </a:p>
        </p:txBody>
      </p:sp>
      <p:sp>
        <p:nvSpPr>
          <p:cNvPr id="475" name="Shape 475"/>
          <p:cNvSpPr/>
          <p:nvPr/>
        </p:nvSpPr>
        <p:spPr>
          <a:xfrm rot="-5400000">
            <a:off x="3124717" y="6534774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DO CENTRO DE REFERÊNCIA A ASSISTÊNCIA SOCIAL III</a:t>
            </a:r>
          </a:p>
        </p:txBody>
      </p:sp>
      <p:cxnSp>
        <p:nvCxnSpPr>
          <p:cNvPr id="476" name="Shape 476"/>
          <p:cNvCxnSpPr>
            <a:stCxn id="471" idx="2"/>
            <a:endCxn id="474" idx="3"/>
          </p:cNvCxnSpPr>
          <p:nvPr/>
        </p:nvCxnSpPr>
        <p:spPr>
          <a:xfrm flipH="1">
            <a:off x="3399446" y="5662461"/>
            <a:ext cx="5100" cy="35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77" name="Shape 477"/>
          <p:cNvCxnSpPr>
            <a:stCxn id="463" idx="3"/>
            <a:endCxn id="475" idx="3"/>
          </p:cNvCxnSpPr>
          <p:nvPr/>
        </p:nvCxnSpPr>
        <p:spPr>
          <a:xfrm rot="-5400000" flipH="1">
            <a:off x="3399367" y="5606424"/>
            <a:ext cx="600" cy="822600"/>
          </a:xfrm>
          <a:prstGeom prst="bentConnector3">
            <a:avLst>
              <a:gd name="adj1" fmla="val -2063736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78" name="Shape 478"/>
          <p:cNvSpPr/>
          <p:nvPr/>
        </p:nvSpPr>
        <p:spPr>
          <a:xfrm rot="-5400000">
            <a:off x="5103867" y="6280725"/>
            <a:ext cx="1372200" cy="71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SERVIÇO DE ACOMPANHAMENTO AO ADOLESCENTE EM CUMPRIMENTO DE MEDIDA SÓCIO-EDUCATIVA</a:t>
            </a:r>
          </a:p>
        </p:txBody>
      </p:sp>
      <p:sp>
        <p:nvSpPr>
          <p:cNvPr id="479" name="Shape 479"/>
          <p:cNvSpPr/>
          <p:nvPr/>
        </p:nvSpPr>
        <p:spPr>
          <a:xfrm rot="-5400000">
            <a:off x="6132127" y="6302820"/>
            <a:ext cx="1372200" cy="699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DE SERVIÇO DE ATENDIMENTO ESPECIALIZADO PARA PESSOAS EM SITUAÇÃO DE RUA</a:t>
            </a:r>
          </a:p>
        </p:txBody>
      </p:sp>
      <p:sp>
        <p:nvSpPr>
          <p:cNvPr id="481" name="Shape 481"/>
          <p:cNvSpPr/>
          <p:nvPr/>
        </p:nvSpPr>
        <p:spPr>
          <a:xfrm rot="-5400000">
            <a:off x="3834355" y="6325632"/>
            <a:ext cx="1372200" cy="71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SERVIÇO DE ACOLHIMENTO DE CRIANÇAS E ADOLESCENTES - CASA DE PASSAGEM</a:t>
            </a:r>
          </a:p>
        </p:txBody>
      </p:sp>
      <p:cxnSp>
        <p:nvCxnSpPr>
          <p:cNvPr id="482" name="Shape 482"/>
          <p:cNvCxnSpPr>
            <a:cxnSpLocks/>
          </p:cNvCxnSpPr>
          <p:nvPr/>
        </p:nvCxnSpPr>
        <p:spPr>
          <a:xfrm rot="-5400000">
            <a:off x="5626914" y="4725120"/>
            <a:ext cx="18900" cy="2501400"/>
          </a:xfrm>
          <a:prstGeom prst="bentConnector3">
            <a:avLst>
              <a:gd name="adj1" fmla="val 7063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83" name="Shape 483"/>
          <p:cNvCxnSpPr>
            <a:stCxn id="458" idx="2"/>
          </p:cNvCxnSpPr>
          <p:nvPr/>
        </p:nvCxnSpPr>
        <p:spPr>
          <a:xfrm>
            <a:off x="5790687" y="5669950"/>
            <a:ext cx="0" cy="1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84" name="Shape 484"/>
          <p:cNvCxnSpPr>
            <a:cxnSpLocks/>
          </p:cNvCxnSpPr>
          <p:nvPr/>
        </p:nvCxnSpPr>
        <p:spPr>
          <a:xfrm rot="10800000">
            <a:off x="5789968" y="5839911"/>
            <a:ext cx="0" cy="11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86" name="Shape 486"/>
          <p:cNvSpPr/>
          <p:nvPr/>
        </p:nvSpPr>
        <p:spPr>
          <a:xfrm>
            <a:off x="235635" y="1489150"/>
            <a:ext cx="2141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CONSELHO MUNICIPAL DOS DIREITOS DA CRIANÇA E DO ADOLESCENTE - CONSELHO TUTELAR</a:t>
            </a:r>
          </a:p>
        </p:txBody>
      </p:sp>
      <p:sp>
        <p:nvSpPr>
          <p:cNvPr id="487" name="Shape 487"/>
          <p:cNvSpPr/>
          <p:nvPr/>
        </p:nvSpPr>
        <p:spPr>
          <a:xfrm>
            <a:off x="235635" y="1981875"/>
            <a:ext cx="2141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CONSELHO MUNICIPAL DE DEFESA DOS DIREITOS DA PESSOA IDOSA</a:t>
            </a:r>
          </a:p>
        </p:txBody>
      </p:sp>
      <p:sp>
        <p:nvSpPr>
          <p:cNvPr id="488" name="Shape 488"/>
          <p:cNvSpPr/>
          <p:nvPr/>
        </p:nvSpPr>
        <p:spPr>
          <a:xfrm>
            <a:off x="235635" y="2474600"/>
            <a:ext cx="2141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CONSELHO MUNICIPAL DE SEGURANÇA ALIMENTAR</a:t>
            </a:r>
          </a:p>
        </p:txBody>
      </p:sp>
      <p:sp>
        <p:nvSpPr>
          <p:cNvPr id="489" name="Shape 489"/>
          <p:cNvSpPr/>
          <p:nvPr/>
        </p:nvSpPr>
        <p:spPr>
          <a:xfrm>
            <a:off x="235635" y="2967325"/>
            <a:ext cx="2141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CONSELHO MUNICIPAL DOS DIREITOS HUMANOS</a:t>
            </a:r>
          </a:p>
        </p:txBody>
      </p:sp>
      <p:sp>
        <p:nvSpPr>
          <p:cNvPr id="490" name="Shape 490"/>
          <p:cNvSpPr/>
          <p:nvPr/>
        </p:nvSpPr>
        <p:spPr>
          <a:xfrm>
            <a:off x="235635" y="3460142"/>
            <a:ext cx="2141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CONSELHO MUNICIPAL SOBRE DROGAS</a:t>
            </a:r>
          </a:p>
        </p:txBody>
      </p:sp>
      <p:sp>
        <p:nvSpPr>
          <p:cNvPr id="491" name="Shape 491"/>
          <p:cNvSpPr/>
          <p:nvPr/>
        </p:nvSpPr>
        <p:spPr>
          <a:xfrm>
            <a:off x="235635" y="3952967"/>
            <a:ext cx="2141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CONSELHO MUNICIPAL DE ASSISTÊNCIA SOCIAL</a:t>
            </a:r>
          </a:p>
        </p:txBody>
      </p:sp>
      <p:sp>
        <p:nvSpPr>
          <p:cNvPr id="492" name="Shape 492"/>
          <p:cNvSpPr/>
          <p:nvPr/>
        </p:nvSpPr>
        <p:spPr>
          <a:xfrm>
            <a:off x="235635" y="4445287"/>
            <a:ext cx="2141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CONSELHO MUNICIPAL DE HABITAÇÃO E INTERESSE SOCIAL</a:t>
            </a:r>
          </a:p>
        </p:txBody>
      </p:sp>
      <p:sp>
        <p:nvSpPr>
          <p:cNvPr id="493" name="Shape 493"/>
          <p:cNvSpPr/>
          <p:nvPr/>
        </p:nvSpPr>
        <p:spPr>
          <a:xfrm>
            <a:off x="235635" y="4937587"/>
            <a:ext cx="2141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CONSELHO MUNICIPAL DOS DIREITOS DAS PESSOAS COM DEFICIÊNCIA FÍSICA, SENSORIAL E MENTAL</a:t>
            </a:r>
          </a:p>
        </p:txBody>
      </p:sp>
      <p:sp>
        <p:nvSpPr>
          <p:cNvPr id="494" name="Shape 494"/>
          <p:cNvSpPr/>
          <p:nvPr/>
        </p:nvSpPr>
        <p:spPr>
          <a:xfrm>
            <a:off x="219605" y="5429887"/>
            <a:ext cx="2141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CONSELHO MUNICIPAL DOS DIREITOS DA MULHER</a:t>
            </a:r>
          </a:p>
        </p:txBody>
      </p:sp>
      <p:sp>
        <p:nvSpPr>
          <p:cNvPr id="495" name="Shape 495"/>
          <p:cNvSpPr/>
          <p:nvPr/>
        </p:nvSpPr>
        <p:spPr>
          <a:xfrm>
            <a:off x="219605" y="5922187"/>
            <a:ext cx="2141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CONSELHO MUNICIPAL DO PROGRAMA BOLSA FAMÍLIA</a:t>
            </a:r>
          </a:p>
        </p:txBody>
      </p:sp>
      <p:cxnSp>
        <p:nvCxnSpPr>
          <p:cNvPr id="496" name="Shape 496"/>
          <p:cNvCxnSpPr>
            <a:stCxn id="486" idx="3"/>
            <a:endCxn id="495" idx="3"/>
          </p:cNvCxnSpPr>
          <p:nvPr/>
        </p:nvCxnSpPr>
        <p:spPr>
          <a:xfrm flipH="1">
            <a:off x="2361435" y="1683550"/>
            <a:ext cx="15900" cy="4433100"/>
          </a:xfrm>
          <a:prstGeom prst="bentConnector3">
            <a:avLst>
              <a:gd name="adj1" fmla="val -818800"/>
            </a:avLst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cxnSp>
        <p:nvCxnSpPr>
          <p:cNvPr id="497" name="Shape 497"/>
          <p:cNvCxnSpPr/>
          <p:nvPr/>
        </p:nvCxnSpPr>
        <p:spPr>
          <a:xfrm rot="10800000">
            <a:off x="2506075" y="1947950"/>
            <a:ext cx="3300300" cy="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cxnSp>
        <p:nvCxnSpPr>
          <p:cNvPr id="498" name="Shape 498"/>
          <p:cNvCxnSpPr>
            <a:stCxn id="487" idx="3"/>
          </p:cNvCxnSpPr>
          <p:nvPr/>
        </p:nvCxnSpPr>
        <p:spPr>
          <a:xfrm>
            <a:off x="2377335" y="2176275"/>
            <a:ext cx="128700" cy="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99" name="Shape 499"/>
          <p:cNvCxnSpPr>
            <a:stCxn id="488" idx="3"/>
          </p:cNvCxnSpPr>
          <p:nvPr/>
        </p:nvCxnSpPr>
        <p:spPr>
          <a:xfrm rot="10800000" flipH="1">
            <a:off x="2377335" y="2666900"/>
            <a:ext cx="1308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00" name="Shape 500"/>
          <p:cNvCxnSpPr>
            <a:stCxn id="489" idx="3"/>
          </p:cNvCxnSpPr>
          <p:nvPr/>
        </p:nvCxnSpPr>
        <p:spPr>
          <a:xfrm>
            <a:off x="2377335" y="3161725"/>
            <a:ext cx="130800" cy="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01" name="Shape 501"/>
          <p:cNvCxnSpPr>
            <a:stCxn id="490" idx="3"/>
          </p:cNvCxnSpPr>
          <p:nvPr/>
        </p:nvCxnSpPr>
        <p:spPr>
          <a:xfrm>
            <a:off x="2377335" y="3654542"/>
            <a:ext cx="137700" cy="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02" name="Shape 502"/>
          <p:cNvCxnSpPr>
            <a:stCxn id="491" idx="3"/>
          </p:cNvCxnSpPr>
          <p:nvPr/>
        </p:nvCxnSpPr>
        <p:spPr>
          <a:xfrm>
            <a:off x="2377335" y="4147367"/>
            <a:ext cx="1398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03" name="Shape 503"/>
          <p:cNvCxnSpPr>
            <a:stCxn id="492" idx="3"/>
          </p:cNvCxnSpPr>
          <p:nvPr/>
        </p:nvCxnSpPr>
        <p:spPr>
          <a:xfrm>
            <a:off x="2377335" y="4639687"/>
            <a:ext cx="135300" cy="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04" name="Shape 504"/>
          <p:cNvCxnSpPr>
            <a:stCxn id="493" idx="3"/>
          </p:cNvCxnSpPr>
          <p:nvPr/>
        </p:nvCxnSpPr>
        <p:spPr>
          <a:xfrm rot="10800000" flipH="1">
            <a:off x="2377335" y="5128087"/>
            <a:ext cx="135300" cy="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05" name="Shape 505"/>
          <p:cNvCxnSpPr>
            <a:stCxn id="494" idx="3"/>
          </p:cNvCxnSpPr>
          <p:nvPr/>
        </p:nvCxnSpPr>
        <p:spPr>
          <a:xfrm rot="10800000" flipH="1">
            <a:off x="2361305" y="5623987"/>
            <a:ext cx="1515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06" name="Shape 506"/>
          <p:cNvSpPr/>
          <p:nvPr/>
        </p:nvSpPr>
        <p:spPr>
          <a:xfrm>
            <a:off x="6602795" y="2539978"/>
            <a:ext cx="1819666" cy="438923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SUPERVISÃO DO FUNDO MUNICIPAL DE ASSISTÊNCIA SOCIAL</a:t>
            </a:r>
          </a:p>
        </p:txBody>
      </p:sp>
      <p:cxnSp>
        <p:nvCxnSpPr>
          <p:cNvPr id="507" name="Shape 507"/>
          <p:cNvCxnSpPr>
            <a:cxnSpLocks/>
          </p:cNvCxnSpPr>
          <p:nvPr/>
        </p:nvCxnSpPr>
        <p:spPr>
          <a:xfrm flipV="1">
            <a:off x="5805931" y="2747080"/>
            <a:ext cx="775320" cy="123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7D02CCAE-5184-8EDC-AE6D-CCC7873C60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  <p:cxnSp>
        <p:nvCxnSpPr>
          <p:cNvPr id="3" name="Shape 507">
            <a:extLst>
              <a:ext uri="{FF2B5EF4-FFF2-40B4-BE49-F238E27FC236}">
                <a16:creationId xmlns:a16="http://schemas.microsoft.com/office/drawing/2014/main" id="{5AB78881-833D-1F38-A799-3BAACA3C93DC}"/>
              </a:ext>
            </a:extLst>
          </p:cNvPr>
          <p:cNvCxnSpPr>
            <a:cxnSpLocks/>
          </p:cNvCxnSpPr>
          <p:nvPr/>
        </p:nvCxnSpPr>
        <p:spPr>
          <a:xfrm flipV="1">
            <a:off x="5789968" y="3452506"/>
            <a:ext cx="775320" cy="123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Shape 469">
            <a:extLst>
              <a:ext uri="{FF2B5EF4-FFF2-40B4-BE49-F238E27FC236}">
                <a16:creationId xmlns:a16="http://schemas.microsoft.com/office/drawing/2014/main" id="{242BEE14-B0C8-67AE-57B9-A3B085CB4E32}"/>
              </a:ext>
            </a:extLst>
          </p:cNvPr>
          <p:cNvSpPr/>
          <p:nvPr/>
        </p:nvSpPr>
        <p:spPr>
          <a:xfrm>
            <a:off x="6991674" y="3158751"/>
            <a:ext cx="311413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COORDENAÇÃO DE SERVIÇO DE ACOLHIMENTO INSTITUCIONAL PARA CRIANÇAS – CASA I</a:t>
            </a:r>
          </a:p>
        </p:txBody>
      </p:sp>
      <p:cxnSp>
        <p:nvCxnSpPr>
          <p:cNvPr id="5" name="Shape 467">
            <a:extLst>
              <a:ext uri="{FF2B5EF4-FFF2-40B4-BE49-F238E27FC236}">
                <a16:creationId xmlns:a16="http://schemas.microsoft.com/office/drawing/2014/main" id="{BE778F6D-30C4-41F9-CE01-C4BE406677C6}"/>
              </a:ext>
            </a:extLst>
          </p:cNvPr>
          <p:cNvCxnSpPr>
            <a:cxnSpLocks/>
          </p:cNvCxnSpPr>
          <p:nvPr/>
        </p:nvCxnSpPr>
        <p:spPr>
          <a:xfrm flipH="1">
            <a:off x="6991674" y="3327501"/>
            <a:ext cx="600" cy="434100"/>
          </a:xfrm>
          <a:prstGeom prst="bentConnector3">
            <a:avLst>
              <a:gd name="adj1" fmla="val 70112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Shape 469">
            <a:extLst>
              <a:ext uri="{FF2B5EF4-FFF2-40B4-BE49-F238E27FC236}">
                <a16:creationId xmlns:a16="http://schemas.microsoft.com/office/drawing/2014/main" id="{23BFF76A-D24D-88D1-F0F4-7EB6FB100FA1}"/>
              </a:ext>
            </a:extLst>
          </p:cNvPr>
          <p:cNvSpPr/>
          <p:nvPr/>
        </p:nvSpPr>
        <p:spPr>
          <a:xfrm>
            <a:off x="6991674" y="3587599"/>
            <a:ext cx="311413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COORDENAÇÃO DE SERVIÇO DE ACOLHIMENTO INSTITUCIONAL PARA ADOLESCENTES – CASA II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/>
          <p:nvPr/>
        </p:nvSpPr>
        <p:spPr>
          <a:xfrm>
            <a:off x="4207750" y="1654960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520" name="Shape 520"/>
          <p:cNvSpPr txBox="1"/>
          <p:nvPr/>
        </p:nvSpPr>
        <p:spPr>
          <a:xfrm>
            <a:off x="692304" y="1167723"/>
            <a:ext cx="9126300" cy="8585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DE POSTURA E TRÂNSITO - SEPTRAN</a:t>
            </a:r>
          </a:p>
        </p:txBody>
      </p:sp>
      <p:sp>
        <p:nvSpPr>
          <p:cNvPr id="522" name="Shape 522"/>
          <p:cNvSpPr/>
          <p:nvPr/>
        </p:nvSpPr>
        <p:spPr>
          <a:xfrm>
            <a:off x="261574" y="4060500"/>
            <a:ext cx="2258700" cy="792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SUPERVISÃO DE VIDEOMONITORAMENTO</a:t>
            </a:r>
          </a:p>
        </p:txBody>
      </p:sp>
      <p:sp>
        <p:nvSpPr>
          <p:cNvPr id="523" name="Shape 523"/>
          <p:cNvSpPr/>
          <p:nvPr/>
        </p:nvSpPr>
        <p:spPr>
          <a:xfrm>
            <a:off x="8670982" y="4060500"/>
            <a:ext cx="1496100" cy="792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ANALISTA DE PROCEDIMENTO E INFRAÇÕES</a:t>
            </a:r>
          </a:p>
        </p:txBody>
      </p:sp>
      <p:cxnSp>
        <p:nvCxnSpPr>
          <p:cNvPr id="524" name="Shape 524"/>
          <p:cNvCxnSpPr>
            <a:stCxn id="519" idx="2"/>
          </p:cNvCxnSpPr>
          <p:nvPr/>
        </p:nvCxnSpPr>
        <p:spPr>
          <a:xfrm>
            <a:off x="5337100" y="2211460"/>
            <a:ext cx="19200" cy="15947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25" name="Shape 525"/>
          <p:cNvSpPr/>
          <p:nvPr/>
        </p:nvSpPr>
        <p:spPr>
          <a:xfrm>
            <a:off x="4207750" y="2447408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</p:txBody>
      </p:sp>
      <p:sp>
        <p:nvSpPr>
          <p:cNvPr id="526" name="Shape 526"/>
          <p:cNvSpPr/>
          <p:nvPr/>
        </p:nvSpPr>
        <p:spPr>
          <a:xfrm>
            <a:off x="5659300" y="3092060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CHEFE DE EXPEDIENTE</a:t>
            </a:r>
          </a:p>
        </p:txBody>
      </p:sp>
      <p:cxnSp>
        <p:nvCxnSpPr>
          <p:cNvPr id="527" name="Shape 527"/>
          <p:cNvCxnSpPr>
            <a:stCxn id="522" idx="0"/>
            <a:endCxn id="523" idx="0"/>
          </p:cNvCxnSpPr>
          <p:nvPr/>
        </p:nvCxnSpPr>
        <p:spPr>
          <a:xfrm rot="-5400000" flipH="1">
            <a:off x="5404624" y="46800"/>
            <a:ext cx="600" cy="80280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28" name="Shape 528"/>
          <p:cNvCxnSpPr>
            <a:stCxn id="526" idx="1"/>
          </p:cNvCxnSpPr>
          <p:nvPr/>
        </p:nvCxnSpPr>
        <p:spPr>
          <a:xfrm flipH="1">
            <a:off x="5337100" y="3370310"/>
            <a:ext cx="322200" cy="1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29" name="Shape 529"/>
          <p:cNvSpPr/>
          <p:nvPr/>
        </p:nvSpPr>
        <p:spPr>
          <a:xfrm>
            <a:off x="6126323" y="4060500"/>
            <a:ext cx="1496099" cy="792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 dirty="0"/>
              <a:t>SUPERVISÃO DE TRÂNSITO E TRANSPORTE</a:t>
            </a:r>
          </a:p>
        </p:txBody>
      </p:sp>
      <p:cxnSp>
        <p:nvCxnSpPr>
          <p:cNvPr id="530" name="Shape 530"/>
          <p:cNvCxnSpPr>
            <a:stCxn id="529" idx="2"/>
          </p:cNvCxnSpPr>
          <p:nvPr/>
        </p:nvCxnSpPr>
        <p:spPr>
          <a:xfrm>
            <a:off x="6874373" y="485250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31" name="Shape 531"/>
          <p:cNvSpPr/>
          <p:nvPr/>
        </p:nvSpPr>
        <p:spPr>
          <a:xfrm>
            <a:off x="487109" y="1712673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100" dirty="0"/>
              <a:t>JARI - JUNTA ADMINISTRATIVA DE RECURSOS DE INFRAÇÕES</a:t>
            </a:r>
          </a:p>
        </p:txBody>
      </p:sp>
      <p:sp>
        <p:nvSpPr>
          <p:cNvPr id="532" name="Shape 532"/>
          <p:cNvSpPr/>
          <p:nvPr/>
        </p:nvSpPr>
        <p:spPr>
          <a:xfrm>
            <a:off x="487096" y="2398298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100"/>
              <a:t>CONSELHO MUNICIPAL TARIFÁRIO - CMT</a:t>
            </a:r>
          </a:p>
        </p:txBody>
      </p:sp>
      <p:cxnSp>
        <p:nvCxnSpPr>
          <p:cNvPr id="533" name="Shape 533"/>
          <p:cNvCxnSpPr/>
          <p:nvPr/>
        </p:nvCxnSpPr>
        <p:spPr>
          <a:xfrm rot="10800000" flipH="1">
            <a:off x="2988100" y="2322725"/>
            <a:ext cx="2355300" cy="2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534" name="Shape 534"/>
          <p:cNvSpPr/>
          <p:nvPr/>
        </p:nvSpPr>
        <p:spPr>
          <a:xfrm rot="-5400000">
            <a:off x="466486" y="5921845"/>
            <a:ext cx="1848900" cy="766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SUBGERÊCIA DE CONTROLE DE  VIDEOMONITORAMENTO </a:t>
            </a:r>
          </a:p>
        </p:txBody>
      </p:sp>
      <p:sp>
        <p:nvSpPr>
          <p:cNvPr id="535" name="Shape 535"/>
          <p:cNvSpPr/>
          <p:nvPr/>
        </p:nvSpPr>
        <p:spPr>
          <a:xfrm rot="-5400000">
            <a:off x="6055856" y="5870598"/>
            <a:ext cx="1848900" cy="766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GERÊNCIA DE APOIO A JARI</a:t>
            </a:r>
          </a:p>
        </p:txBody>
      </p:sp>
      <p:sp>
        <p:nvSpPr>
          <p:cNvPr id="536" name="Shape 536"/>
          <p:cNvSpPr/>
          <p:nvPr/>
        </p:nvSpPr>
        <p:spPr>
          <a:xfrm rot="-5400000">
            <a:off x="5051392" y="5870598"/>
            <a:ext cx="1848900" cy="766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 dirty="0"/>
              <a:t>GERÊNCIA DE PLANEJ. E FISCALIZAÇÃO DE TRÂNSITO</a:t>
            </a:r>
          </a:p>
        </p:txBody>
      </p:sp>
      <p:sp>
        <p:nvSpPr>
          <p:cNvPr id="537" name="Shape 537"/>
          <p:cNvSpPr/>
          <p:nvPr/>
        </p:nvSpPr>
        <p:spPr>
          <a:xfrm rot="-5400000">
            <a:off x="4092031" y="5920240"/>
            <a:ext cx="1848900" cy="766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 dirty="0"/>
              <a:t>GERÊNCIA DE ESTUDOS VIÁRIOS E ACOMPANHAMENTO DE CONTRATOS</a:t>
            </a:r>
          </a:p>
        </p:txBody>
      </p:sp>
      <p:cxnSp>
        <p:nvCxnSpPr>
          <p:cNvPr id="539" name="Shape 539"/>
          <p:cNvCxnSpPr>
            <a:cxnSpLocks/>
            <a:endCxn id="535" idx="3"/>
          </p:cNvCxnSpPr>
          <p:nvPr/>
        </p:nvCxnSpPr>
        <p:spPr>
          <a:xfrm>
            <a:off x="4857753" y="5104218"/>
            <a:ext cx="2122553" cy="22533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41" name="Shape 541"/>
          <p:cNvCxnSpPr>
            <a:stCxn id="522" idx="2"/>
            <a:endCxn id="534" idx="3"/>
          </p:cNvCxnSpPr>
          <p:nvPr/>
        </p:nvCxnSpPr>
        <p:spPr>
          <a:xfrm>
            <a:off x="1390924" y="4852500"/>
            <a:ext cx="0" cy="52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42" name="Shape 542"/>
          <p:cNvCxnSpPr>
            <a:cxnSpLocks/>
          </p:cNvCxnSpPr>
          <p:nvPr/>
        </p:nvCxnSpPr>
        <p:spPr>
          <a:xfrm>
            <a:off x="6514750" y="4840734"/>
            <a:ext cx="0" cy="2732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43" name="Shape 543"/>
          <p:cNvCxnSpPr/>
          <p:nvPr/>
        </p:nvCxnSpPr>
        <p:spPr>
          <a:xfrm>
            <a:off x="4861735" y="5092540"/>
            <a:ext cx="12600" cy="26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44" name="Shape 544"/>
          <p:cNvSpPr/>
          <p:nvPr/>
        </p:nvSpPr>
        <p:spPr>
          <a:xfrm rot="-5400000">
            <a:off x="7173512" y="5870598"/>
            <a:ext cx="1848900" cy="766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GERÊNCIA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ADMINISTRATIVA</a:t>
            </a:r>
          </a:p>
        </p:txBody>
      </p:sp>
      <p:cxnSp>
        <p:nvCxnSpPr>
          <p:cNvPr id="545" name="Shape 545"/>
          <p:cNvCxnSpPr>
            <a:cxnSpLocks/>
          </p:cNvCxnSpPr>
          <p:nvPr/>
        </p:nvCxnSpPr>
        <p:spPr>
          <a:xfrm rot="10800000">
            <a:off x="8058429" y="3826848"/>
            <a:ext cx="13800" cy="150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46" name="Shape 546"/>
          <p:cNvSpPr/>
          <p:nvPr/>
        </p:nvSpPr>
        <p:spPr>
          <a:xfrm>
            <a:off x="2686535" y="4060500"/>
            <a:ext cx="1496100" cy="792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SUPERVISÃO DE POSTURA</a:t>
            </a:r>
          </a:p>
        </p:txBody>
      </p:sp>
      <p:cxnSp>
        <p:nvCxnSpPr>
          <p:cNvPr id="547" name="Shape 547"/>
          <p:cNvCxnSpPr>
            <a:stCxn id="546" idx="0"/>
          </p:cNvCxnSpPr>
          <p:nvPr/>
        </p:nvCxnSpPr>
        <p:spPr>
          <a:xfrm rot="10800000">
            <a:off x="3434585" y="3832200"/>
            <a:ext cx="0" cy="22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48" name="Shape 548"/>
          <p:cNvCxnSpPr>
            <a:stCxn id="529" idx="0"/>
          </p:cNvCxnSpPr>
          <p:nvPr/>
        </p:nvCxnSpPr>
        <p:spPr>
          <a:xfrm rot="10800000">
            <a:off x="6874373" y="3832200"/>
            <a:ext cx="0" cy="22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49" name="Shape 549"/>
          <p:cNvCxnSpPr>
            <a:stCxn id="531" idx="3"/>
            <a:endCxn id="532" idx="3"/>
          </p:cNvCxnSpPr>
          <p:nvPr/>
        </p:nvCxnSpPr>
        <p:spPr>
          <a:xfrm>
            <a:off x="2745809" y="1990923"/>
            <a:ext cx="600" cy="6855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550" name="Shape 550"/>
          <p:cNvSpPr/>
          <p:nvPr/>
        </p:nvSpPr>
        <p:spPr>
          <a:xfrm rot="-5400000">
            <a:off x="2522695" y="5916445"/>
            <a:ext cx="1848900" cy="766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SUBGERÊCIA DE </a:t>
            </a:r>
            <a:r>
              <a:rPr lang="pt-BR" sz="1000">
                <a:solidFill>
                  <a:schemeClr val="dk1"/>
                </a:solidFill>
              </a:rPr>
              <a:t>FISCALIZAÇÃO E </a:t>
            </a:r>
            <a:r>
              <a:rPr lang="pt-BR" sz="1000"/>
              <a:t>ORDENAMENTO</a:t>
            </a:r>
          </a:p>
        </p:txBody>
      </p:sp>
      <p:cxnSp>
        <p:nvCxnSpPr>
          <p:cNvPr id="551" name="Shape 551"/>
          <p:cNvCxnSpPr>
            <a:stCxn id="550" idx="3"/>
          </p:cNvCxnSpPr>
          <p:nvPr/>
        </p:nvCxnSpPr>
        <p:spPr>
          <a:xfrm rot="10800000">
            <a:off x="3447145" y="4852495"/>
            <a:ext cx="0" cy="52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52" name="Shape 552"/>
          <p:cNvSpPr/>
          <p:nvPr/>
        </p:nvSpPr>
        <p:spPr>
          <a:xfrm>
            <a:off x="4406435" y="4060500"/>
            <a:ext cx="1496100" cy="792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SUPERVISÃO DE ORDENAMENTO DAS ORLAS</a:t>
            </a:r>
          </a:p>
        </p:txBody>
      </p:sp>
      <p:cxnSp>
        <p:nvCxnSpPr>
          <p:cNvPr id="553" name="Shape 553"/>
          <p:cNvCxnSpPr>
            <a:stCxn id="552" idx="0"/>
          </p:cNvCxnSpPr>
          <p:nvPr/>
        </p:nvCxnSpPr>
        <p:spPr>
          <a:xfrm rot="10800000" flipH="1">
            <a:off x="5154485" y="3820800"/>
            <a:ext cx="6900" cy="23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9" name="Shape 533"/>
          <p:cNvCxnSpPr/>
          <p:nvPr/>
        </p:nvCxnSpPr>
        <p:spPr>
          <a:xfrm rot="10800000" flipH="1">
            <a:off x="5337100" y="2298518"/>
            <a:ext cx="2355300" cy="2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40" name="Shape 532"/>
          <p:cNvSpPr/>
          <p:nvPr/>
        </p:nvSpPr>
        <p:spPr>
          <a:xfrm>
            <a:off x="7686100" y="2045127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100" dirty="0"/>
              <a:t>FUNDO MUNICIPAL DE TRANSITO E TRANSPORTE - FMTT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27D2B2C-907F-F892-8158-5846237A91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/>
          <p:nvPr/>
        </p:nvSpPr>
        <p:spPr>
          <a:xfrm>
            <a:off x="4207750" y="1654960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566" name="Shape 566"/>
          <p:cNvSpPr txBox="1"/>
          <p:nvPr/>
        </p:nvSpPr>
        <p:spPr>
          <a:xfrm>
            <a:off x="692304" y="1167723"/>
            <a:ext cx="9126300" cy="8585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DE </a:t>
            </a:r>
            <a:r>
              <a:rPr lang="pt-BR" sz="1800" b="1">
                <a:solidFill>
                  <a:schemeClr val="dk1"/>
                </a:solidFill>
              </a:rPr>
              <a:t>MEIO AMBIENTE E </a:t>
            </a:r>
            <a:r>
              <a:rPr lang="pt-BR" sz="1800" b="1"/>
              <a:t>AGRICULTURA - SEMAG </a:t>
            </a:r>
          </a:p>
        </p:txBody>
      </p:sp>
      <p:sp>
        <p:nvSpPr>
          <p:cNvPr id="568" name="Shape 568"/>
          <p:cNvSpPr/>
          <p:nvPr/>
        </p:nvSpPr>
        <p:spPr>
          <a:xfrm>
            <a:off x="4207750" y="4856545"/>
            <a:ext cx="2258700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COORDENAÇÃO DO PARQUE NATURAL MUNIC. ‘MORRO DA PESCARIA’</a:t>
            </a:r>
          </a:p>
        </p:txBody>
      </p:sp>
      <p:sp>
        <p:nvSpPr>
          <p:cNvPr id="569" name="Shape 569"/>
          <p:cNvSpPr/>
          <p:nvPr/>
        </p:nvSpPr>
        <p:spPr>
          <a:xfrm>
            <a:off x="8312050" y="4613856"/>
            <a:ext cx="2258700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SUPERVISÃO DE FEIRAS E MERCADOS</a:t>
            </a:r>
          </a:p>
        </p:txBody>
      </p:sp>
      <p:cxnSp>
        <p:nvCxnSpPr>
          <p:cNvPr id="570" name="Shape 570"/>
          <p:cNvCxnSpPr>
            <a:stCxn id="565" idx="2"/>
            <a:endCxn id="568" idx="0"/>
          </p:cNvCxnSpPr>
          <p:nvPr/>
        </p:nvCxnSpPr>
        <p:spPr>
          <a:xfrm>
            <a:off x="5337100" y="2211460"/>
            <a:ext cx="0" cy="2645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71" name="Shape 571"/>
          <p:cNvSpPr/>
          <p:nvPr/>
        </p:nvSpPr>
        <p:spPr>
          <a:xfrm>
            <a:off x="5648424" y="2466050"/>
            <a:ext cx="2670599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DE AGRONEGÓCIO </a:t>
            </a:r>
          </a:p>
        </p:txBody>
      </p:sp>
      <p:sp>
        <p:nvSpPr>
          <p:cNvPr id="572" name="Shape 572"/>
          <p:cNvSpPr/>
          <p:nvPr/>
        </p:nvSpPr>
        <p:spPr>
          <a:xfrm>
            <a:off x="2475849" y="2466050"/>
            <a:ext cx="2585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 AMBIENTAL</a:t>
            </a:r>
          </a:p>
        </p:txBody>
      </p:sp>
      <p:sp>
        <p:nvSpPr>
          <p:cNvPr id="573" name="Shape 573"/>
          <p:cNvSpPr/>
          <p:nvPr/>
        </p:nvSpPr>
        <p:spPr>
          <a:xfrm>
            <a:off x="5659300" y="3126500"/>
            <a:ext cx="26706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CHEFE DE EXPEDIENTE</a:t>
            </a:r>
          </a:p>
        </p:txBody>
      </p:sp>
      <p:cxnSp>
        <p:nvCxnSpPr>
          <p:cNvPr id="574" name="Shape 574"/>
          <p:cNvCxnSpPr>
            <a:stCxn id="572" idx="3"/>
            <a:endCxn id="571" idx="1"/>
          </p:cNvCxnSpPr>
          <p:nvPr/>
        </p:nvCxnSpPr>
        <p:spPr>
          <a:xfrm>
            <a:off x="5061549" y="2744300"/>
            <a:ext cx="58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75" name="Shape 575"/>
          <p:cNvCxnSpPr>
            <a:stCxn id="573" idx="1"/>
          </p:cNvCxnSpPr>
          <p:nvPr/>
        </p:nvCxnSpPr>
        <p:spPr>
          <a:xfrm flipH="1">
            <a:off x="5337100" y="3404750"/>
            <a:ext cx="322200" cy="1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76" name="Shape 576"/>
          <p:cNvSpPr/>
          <p:nvPr/>
        </p:nvSpPr>
        <p:spPr>
          <a:xfrm>
            <a:off x="2475850" y="3834587"/>
            <a:ext cx="2670600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ANALISTA DE CONTROLE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AMBIENTAL RURAL E URBANO</a:t>
            </a:r>
          </a:p>
        </p:txBody>
      </p:sp>
      <p:sp>
        <p:nvSpPr>
          <p:cNvPr id="577" name="Shape 577"/>
          <p:cNvSpPr/>
          <p:nvPr/>
        </p:nvSpPr>
        <p:spPr>
          <a:xfrm>
            <a:off x="365277" y="5815376"/>
            <a:ext cx="1675500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GERÊNCIA DE ARBORIZAÇÃO E PAISAGISMO</a:t>
            </a:r>
          </a:p>
        </p:txBody>
      </p:sp>
      <p:sp>
        <p:nvSpPr>
          <p:cNvPr id="578" name="Shape 578"/>
          <p:cNvSpPr/>
          <p:nvPr/>
        </p:nvSpPr>
        <p:spPr>
          <a:xfrm>
            <a:off x="2164357" y="5815389"/>
            <a:ext cx="1675500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GERÊNCIA DE CONTROLE AMBIENTAL</a:t>
            </a:r>
          </a:p>
        </p:txBody>
      </p:sp>
      <p:sp>
        <p:nvSpPr>
          <p:cNvPr id="579" name="Shape 579"/>
          <p:cNvSpPr/>
          <p:nvPr/>
        </p:nvSpPr>
        <p:spPr>
          <a:xfrm>
            <a:off x="3963462" y="5795998"/>
            <a:ext cx="1675500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GERÊNCIA DE EDUCAÇÃO AMBIENTAL </a:t>
            </a:r>
          </a:p>
        </p:txBody>
      </p:sp>
      <p:sp>
        <p:nvSpPr>
          <p:cNvPr id="580" name="Shape 580"/>
          <p:cNvSpPr/>
          <p:nvPr/>
        </p:nvSpPr>
        <p:spPr>
          <a:xfrm>
            <a:off x="2164382" y="6814615"/>
            <a:ext cx="1675500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pt-BR" sz="1000">
                <a:solidFill>
                  <a:schemeClr val="dk1"/>
                </a:solidFill>
              </a:rPr>
              <a:t>SUBGERÊNCIA DE DISK-SILÊNCIO</a:t>
            </a:r>
          </a:p>
        </p:txBody>
      </p:sp>
      <p:sp>
        <p:nvSpPr>
          <p:cNvPr id="581" name="Shape 581"/>
          <p:cNvSpPr/>
          <p:nvPr/>
        </p:nvSpPr>
        <p:spPr>
          <a:xfrm>
            <a:off x="3981825" y="6802836"/>
            <a:ext cx="1675500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pt-BR" sz="1000">
                <a:solidFill>
                  <a:schemeClr val="dk1"/>
                </a:solidFill>
              </a:rPr>
              <a:t>SUBGERÊNCIA DE FISCALIZAÇÃO DE CONTROLE AMBIENTAL</a:t>
            </a:r>
          </a:p>
        </p:txBody>
      </p:sp>
      <p:sp>
        <p:nvSpPr>
          <p:cNvPr id="582" name="Shape 582"/>
          <p:cNvSpPr/>
          <p:nvPr/>
        </p:nvSpPr>
        <p:spPr>
          <a:xfrm>
            <a:off x="5930495" y="5782926"/>
            <a:ext cx="1675500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GERÊNCIA DE FOMENTO AO AGRONEGÓCIO</a:t>
            </a:r>
          </a:p>
        </p:txBody>
      </p:sp>
      <p:sp>
        <p:nvSpPr>
          <p:cNvPr id="583" name="Shape 583"/>
          <p:cNvSpPr/>
          <p:nvPr/>
        </p:nvSpPr>
        <p:spPr>
          <a:xfrm>
            <a:off x="7708512" y="5786298"/>
            <a:ext cx="1675500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GERÊNCIA DE AGROPECUÁRIA PESCA E AGRICULTURA</a:t>
            </a:r>
          </a:p>
        </p:txBody>
      </p:sp>
      <p:sp>
        <p:nvSpPr>
          <p:cNvPr id="584" name="Shape 584"/>
          <p:cNvSpPr/>
          <p:nvPr/>
        </p:nvSpPr>
        <p:spPr>
          <a:xfrm>
            <a:off x="5930500" y="6802836"/>
            <a:ext cx="1675499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>
                <a:solidFill>
                  <a:schemeClr val="dk1"/>
                </a:solidFill>
              </a:rPr>
              <a:t>SUBGERÊNCIA DE ORGANIZAÇÃO COOPERATIVISTA</a:t>
            </a:r>
          </a:p>
        </p:txBody>
      </p:sp>
      <p:cxnSp>
        <p:nvCxnSpPr>
          <p:cNvPr id="585" name="Shape 585"/>
          <p:cNvCxnSpPr>
            <a:stCxn id="577" idx="0"/>
            <a:endCxn id="579" idx="0"/>
          </p:cNvCxnSpPr>
          <p:nvPr/>
        </p:nvCxnSpPr>
        <p:spPr>
          <a:xfrm rot="-5400000">
            <a:off x="2992377" y="4006526"/>
            <a:ext cx="19500" cy="3598200"/>
          </a:xfrm>
          <a:prstGeom prst="bentConnector3">
            <a:avLst>
              <a:gd name="adj1" fmla="val 132053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86" name="Shape 586"/>
          <p:cNvCxnSpPr>
            <a:stCxn id="580" idx="0"/>
            <a:endCxn id="581" idx="0"/>
          </p:cNvCxnSpPr>
          <p:nvPr/>
        </p:nvCxnSpPr>
        <p:spPr>
          <a:xfrm rot="-5400000">
            <a:off x="3904982" y="5900065"/>
            <a:ext cx="11700" cy="1817400"/>
          </a:xfrm>
          <a:prstGeom prst="bentConnector3">
            <a:avLst>
              <a:gd name="adj1" fmla="val 213593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87" name="Shape 587"/>
          <p:cNvCxnSpPr>
            <a:stCxn id="576" idx="2"/>
          </p:cNvCxnSpPr>
          <p:nvPr/>
        </p:nvCxnSpPr>
        <p:spPr>
          <a:xfrm>
            <a:off x="3811150" y="4421987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88" name="Shape 588"/>
          <p:cNvCxnSpPr>
            <a:endCxn id="578" idx="0"/>
          </p:cNvCxnSpPr>
          <p:nvPr/>
        </p:nvCxnSpPr>
        <p:spPr>
          <a:xfrm flipH="1">
            <a:off x="3002107" y="5572689"/>
            <a:ext cx="10200" cy="2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89" name="Shape 589"/>
          <p:cNvCxnSpPr>
            <a:stCxn id="578" idx="2"/>
            <a:endCxn id="580" idx="0"/>
          </p:cNvCxnSpPr>
          <p:nvPr/>
        </p:nvCxnSpPr>
        <p:spPr>
          <a:xfrm>
            <a:off x="3002107" y="6402789"/>
            <a:ext cx="0" cy="41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90" name="Shape 590"/>
          <p:cNvCxnSpPr>
            <a:stCxn id="582" idx="2"/>
            <a:endCxn id="584" idx="0"/>
          </p:cNvCxnSpPr>
          <p:nvPr/>
        </p:nvCxnSpPr>
        <p:spPr>
          <a:xfrm>
            <a:off x="6768245" y="6370326"/>
            <a:ext cx="0" cy="43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91" name="Shape 591"/>
          <p:cNvSpPr/>
          <p:nvPr/>
        </p:nvSpPr>
        <p:spPr>
          <a:xfrm>
            <a:off x="365275" y="1679850"/>
            <a:ext cx="1573500" cy="942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100"/>
              <a:t>CONSELHO MUNICIPAL DE DESENVOLVIMENTO RURAL E SUSTENTÁVEL</a:t>
            </a:r>
          </a:p>
        </p:txBody>
      </p:sp>
      <p:sp>
        <p:nvSpPr>
          <p:cNvPr id="592" name="Shape 592"/>
          <p:cNvSpPr/>
          <p:nvPr/>
        </p:nvSpPr>
        <p:spPr>
          <a:xfrm>
            <a:off x="365200" y="2760075"/>
            <a:ext cx="1573500" cy="858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100"/>
              <a:t>CONSELHO MUNICIPAL DE MEIO AMBIENTE</a:t>
            </a:r>
          </a:p>
        </p:txBody>
      </p:sp>
      <p:cxnSp>
        <p:nvCxnSpPr>
          <p:cNvPr id="593" name="Shape 593"/>
          <p:cNvCxnSpPr/>
          <p:nvPr/>
        </p:nvCxnSpPr>
        <p:spPr>
          <a:xfrm>
            <a:off x="2185650" y="2365132"/>
            <a:ext cx="3167700" cy="2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594" name="Shape 594"/>
          <p:cNvSpPr/>
          <p:nvPr/>
        </p:nvSpPr>
        <p:spPr>
          <a:xfrm>
            <a:off x="8779000" y="6850411"/>
            <a:ext cx="1675500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>
                <a:solidFill>
                  <a:schemeClr val="dk1"/>
                </a:solidFill>
              </a:rPr>
              <a:t>SUBGERÊNCIA DE INSPEÇÃO DE FEIRAS E MERCADOS</a:t>
            </a:r>
          </a:p>
        </p:txBody>
      </p:sp>
      <p:cxnSp>
        <p:nvCxnSpPr>
          <p:cNvPr id="595" name="Shape 595"/>
          <p:cNvCxnSpPr>
            <a:stCxn id="576" idx="2"/>
          </p:cNvCxnSpPr>
          <p:nvPr/>
        </p:nvCxnSpPr>
        <p:spPr>
          <a:xfrm flipH="1">
            <a:off x="3809950" y="4421987"/>
            <a:ext cx="1200" cy="112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96" name="Shape 596"/>
          <p:cNvCxnSpPr/>
          <p:nvPr/>
        </p:nvCxnSpPr>
        <p:spPr>
          <a:xfrm>
            <a:off x="5362475" y="4671454"/>
            <a:ext cx="2999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97" name="Shape 597"/>
          <p:cNvCxnSpPr/>
          <p:nvPr/>
        </p:nvCxnSpPr>
        <p:spPr>
          <a:xfrm>
            <a:off x="9909550" y="5210458"/>
            <a:ext cx="0" cy="16445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98" name="Shape 598"/>
          <p:cNvCxnSpPr>
            <a:stCxn id="582" idx="0"/>
          </p:cNvCxnSpPr>
          <p:nvPr/>
        </p:nvCxnSpPr>
        <p:spPr>
          <a:xfrm rot="10800000">
            <a:off x="6768245" y="4657626"/>
            <a:ext cx="0" cy="112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599" name="Shape 599"/>
          <p:cNvCxnSpPr/>
          <p:nvPr/>
        </p:nvCxnSpPr>
        <p:spPr>
          <a:xfrm rot="10800000">
            <a:off x="8071375" y="4643750"/>
            <a:ext cx="0" cy="11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00" name="Shape 600"/>
          <p:cNvCxnSpPr>
            <a:stCxn id="591" idx="3"/>
            <a:endCxn id="592" idx="3"/>
          </p:cNvCxnSpPr>
          <p:nvPr/>
        </p:nvCxnSpPr>
        <p:spPr>
          <a:xfrm>
            <a:off x="1938775" y="2151150"/>
            <a:ext cx="600" cy="10383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cxnSp>
        <p:nvCxnSpPr>
          <p:cNvPr id="601" name="Shape 601"/>
          <p:cNvCxnSpPr>
            <a:stCxn id="576" idx="3"/>
          </p:cNvCxnSpPr>
          <p:nvPr/>
        </p:nvCxnSpPr>
        <p:spPr>
          <a:xfrm>
            <a:off x="5146450" y="4128287"/>
            <a:ext cx="194400" cy="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02" name="Shape 602"/>
          <p:cNvSpPr/>
          <p:nvPr/>
        </p:nvSpPr>
        <p:spPr>
          <a:xfrm>
            <a:off x="5646410" y="3841835"/>
            <a:ext cx="2670599" cy="587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ANALISTA DE LICENCIAMENTO AMBIENTAL</a:t>
            </a:r>
          </a:p>
        </p:txBody>
      </p:sp>
      <p:cxnSp>
        <p:nvCxnSpPr>
          <p:cNvPr id="603" name="Shape 603"/>
          <p:cNvCxnSpPr>
            <a:stCxn id="602" idx="1"/>
          </p:cNvCxnSpPr>
          <p:nvPr/>
        </p:nvCxnSpPr>
        <p:spPr>
          <a:xfrm rot="10800000">
            <a:off x="5342810" y="4135535"/>
            <a:ext cx="30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6266FBF7-86B4-58FF-6D13-BA747DDB61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615"/>
          <p:cNvSpPr/>
          <p:nvPr/>
        </p:nvSpPr>
        <p:spPr>
          <a:xfrm>
            <a:off x="4560175" y="1454661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616" name="Shape 616"/>
          <p:cNvSpPr txBox="1"/>
          <p:nvPr/>
        </p:nvSpPr>
        <p:spPr>
          <a:xfrm>
            <a:off x="1044725" y="974867"/>
            <a:ext cx="9126300" cy="413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DA EDUCAÇÃO - SEMED</a:t>
            </a:r>
          </a:p>
        </p:txBody>
      </p:sp>
      <p:sp>
        <p:nvSpPr>
          <p:cNvPr id="618" name="Shape 618"/>
          <p:cNvSpPr/>
          <p:nvPr/>
        </p:nvSpPr>
        <p:spPr>
          <a:xfrm>
            <a:off x="308348" y="3771299"/>
            <a:ext cx="2183502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ADMINISTRATIVO E DE PROCESSO LICITATÓRIO</a:t>
            </a:r>
          </a:p>
        </p:txBody>
      </p:sp>
      <p:cxnSp>
        <p:nvCxnSpPr>
          <p:cNvPr id="619" name="Shape 619"/>
          <p:cNvCxnSpPr>
            <a:stCxn id="615" idx="2"/>
          </p:cNvCxnSpPr>
          <p:nvPr/>
        </p:nvCxnSpPr>
        <p:spPr>
          <a:xfrm flipH="1">
            <a:off x="5676925" y="2011161"/>
            <a:ext cx="12600" cy="1678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20" name="Shape 620"/>
          <p:cNvSpPr/>
          <p:nvPr/>
        </p:nvSpPr>
        <p:spPr>
          <a:xfrm>
            <a:off x="4560162" y="2212566"/>
            <a:ext cx="22587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</p:txBody>
      </p:sp>
      <p:cxnSp>
        <p:nvCxnSpPr>
          <p:cNvPr id="621" name="Shape 621"/>
          <p:cNvCxnSpPr/>
          <p:nvPr/>
        </p:nvCxnSpPr>
        <p:spPr>
          <a:xfrm>
            <a:off x="4622541" y="4366233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22" name="Shape 622"/>
          <p:cNvSpPr/>
          <p:nvPr/>
        </p:nvSpPr>
        <p:spPr>
          <a:xfrm>
            <a:off x="7053325" y="2781017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DIRETORES ESCOLARES</a:t>
            </a:r>
          </a:p>
        </p:txBody>
      </p:sp>
      <p:cxnSp>
        <p:nvCxnSpPr>
          <p:cNvPr id="623" name="Shape 623"/>
          <p:cNvCxnSpPr>
            <a:cxnSpLocks/>
            <a:stCxn id="622" idx="1"/>
          </p:cNvCxnSpPr>
          <p:nvPr/>
        </p:nvCxnSpPr>
        <p:spPr>
          <a:xfrm rot="10800000">
            <a:off x="5689525" y="2945867"/>
            <a:ext cx="1363800" cy="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24" name="Shape 624"/>
          <p:cNvSpPr/>
          <p:nvPr/>
        </p:nvSpPr>
        <p:spPr>
          <a:xfrm rot="-5400000">
            <a:off x="29275" y="5758311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GERÊNCIA ADMINISTRATIVA</a:t>
            </a:r>
          </a:p>
        </p:txBody>
      </p:sp>
      <p:sp>
        <p:nvSpPr>
          <p:cNvPr id="625" name="Shape 625"/>
          <p:cNvSpPr/>
          <p:nvPr/>
        </p:nvSpPr>
        <p:spPr>
          <a:xfrm rot="-5400000">
            <a:off x="551575" y="5758311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 dirty="0"/>
              <a:t>GERÊNCIA DE CONTROLE DE TRANSPORTE OFICIAL E ESCOLAR</a:t>
            </a:r>
          </a:p>
        </p:txBody>
      </p:sp>
      <p:sp>
        <p:nvSpPr>
          <p:cNvPr id="626" name="Shape 626"/>
          <p:cNvSpPr/>
          <p:nvPr/>
        </p:nvSpPr>
        <p:spPr>
          <a:xfrm rot="-5400000">
            <a:off x="1075450" y="5770228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GERÊNCIA DE MATERIAL E COMPRAS</a:t>
            </a:r>
          </a:p>
        </p:txBody>
      </p:sp>
      <p:sp>
        <p:nvSpPr>
          <p:cNvPr id="627" name="Shape 627"/>
          <p:cNvSpPr/>
          <p:nvPr/>
        </p:nvSpPr>
        <p:spPr>
          <a:xfrm rot="-5400000">
            <a:off x="1589800" y="5770228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GERÊNCIA SETORIAL DE PESSOAL</a:t>
            </a:r>
          </a:p>
        </p:txBody>
      </p:sp>
      <p:sp>
        <p:nvSpPr>
          <p:cNvPr id="628" name="Shape 628"/>
          <p:cNvSpPr/>
          <p:nvPr/>
        </p:nvSpPr>
        <p:spPr>
          <a:xfrm rot="-5400000">
            <a:off x="2104150" y="5770228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GERÊNCIA DE ALIMENTAÇÃO E NUTRIÇÃO</a:t>
            </a:r>
          </a:p>
        </p:txBody>
      </p:sp>
      <p:cxnSp>
        <p:nvCxnSpPr>
          <p:cNvPr id="629" name="Shape 629"/>
          <p:cNvCxnSpPr>
            <a:stCxn id="624" idx="3"/>
            <a:endCxn id="630" idx="3"/>
          </p:cNvCxnSpPr>
          <p:nvPr/>
        </p:nvCxnSpPr>
        <p:spPr>
          <a:xfrm rot="-5400000" flipH="1">
            <a:off x="2133025" y="3877611"/>
            <a:ext cx="12000" cy="2630100"/>
          </a:xfrm>
          <a:prstGeom prst="bentConnector3">
            <a:avLst>
              <a:gd name="adj1" fmla="val -198437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31" name="Shape 631"/>
          <p:cNvCxnSpPr>
            <a:stCxn id="625" idx="3"/>
          </p:cNvCxnSpPr>
          <p:nvPr/>
        </p:nvCxnSpPr>
        <p:spPr>
          <a:xfrm>
            <a:off x="1346275" y="5186661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32" name="Shape 632"/>
          <p:cNvCxnSpPr>
            <a:stCxn id="625" idx="3"/>
          </p:cNvCxnSpPr>
          <p:nvPr/>
        </p:nvCxnSpPr>
        <p:spPr>
          <a:xfrm rot="10800000">
            <a:off x="1346275" y="4952661"/>
            <a:ext cx="0" cy="23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33" name="Shape 633"/>
          <p:cNvCxnSpPr/>
          <p:nvPr/>
        </p:nvCxnSpPr>
        <p:spPr>
          <a:xfrm rot="10800000" flipH="1">
            <a:off x="1853575" y="4954191"/>
            <a:ext cx="600" cy="24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34" name="Shape 634"/>
          <p:cNvCxnSpPr>
            <a:stCxn id="627" idx="3"/>
          </p:cNvCxnSpPr>
          <p:nvPr/>
        </p:nvCxnSpPr>
        <p:spPr>
          <a:xfrm rot="10800000">
            <a:off x="2384500" y="4940878"/>
            <a:ext cx="0" cy="25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35" name="Shape 635"/>
          <p:cNvCxnSpPr>
            <a:cxnSpLocks/>
          </p:cNvCxnSpPr>
          <p:nvPr/>
        </p:nvCxnSpPr>
        <p:spPr>
          <a:xfrm flipH="1">
            <a:off x="2366536" y="4398647"/>
            <a:ext cx="5278" cy="55401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36" name="Shape 636"/>
          <p:cNvSpPr/>
          <p:nvPr/>
        </p:nvSpPr>
        <p:spPr>
          <a:xfrm>
            <a:off x="695375" y="1472438"/>
            <a:ext cx="17085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CONSELHO DE ALIMENTAÇÃO ESCOLAR - CAE</a:t>
            </a:r>
          </a:p>
        </p:txBody>
      </p:sp>
      <p:sp>
        <p:nvSpPr>
          <p:cNvPr id="637" name="Shape 637"/>
          <p:cNvSpPr/>
          <p:nvPr/>
        </p:nvSpPr>
        <p:spPr>
          <a:xfrm>
            <a:off x="695375" y="2112488"/>
            <a:ext cx="17085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CONSELHO MUNICIPAL DE EDUCAÇÃO DE GUARAPARI - COMEG</a:t>
            </a:r>
          </a:p>
        </p:txBody>
      </p:sp>
      <p:sp>
        <p:nvSpPr>
          <p:cNvPr id="638" name="Shape 638"/>
          <p:cNvSpPr/>
          <p:nvPr/>
        </p:nvSpPr>
        <p:spPr>
          <a:xfrm>
            <a:off x="695375" y="2752538"/>
            <a:ext cx="1708500" cy="556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CONSELHO MUNICIPAL DE ACOMPANHAMENTO E CONTROLE SOCIAL DO FUNDEB</a:t>
            </a:r>
          </a:p>
        </p:txBody>
      </p:sp>
      <p:sp>
        <p:nvSpPr>
          <p:cNvPr id="641" name="Shape 641"/>
          <p:cNvSpPr/>
          <p:nvPr/>
        </p:nvSpPr>
        <p:spPr>
          <a:xfrm>
            <a:off x="7053325" y="3213159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CHEFE DE EXPEDIENTE</a:t>
            </a:r>
          </a:p>
        </p:txBody>
      </p:sp>
      <p:cxnSp>
        <p:nvCxnSpPr>
          <p:cNvPr id="642" name="Shape 642"/>
          <p:cNvCxnSpPr>
            <a:stCxn id="641" idx="1"/>
          </p:cNvCxnSpPr>
          <p:nvPr/>
        </p:nvCxnSpPr>
        <p:spPr>
          <a:xfrm rot="10800000">
            <a:off x="5676925" y="3381909"/>
            <a:ext cx="1376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43" name="Shape 643"/>
          <p:cNvSpPr/>
          <p:nvPr/>
        </p:nvSpPr>
        <p:spPr>
          <a:xfrm>
            <a:off x="3832712" y="3809432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SUPERVISÃO DE MANUTENÇÃO DA REDE FÍSICA</a:t>
            </a:r>
          </a:p>
        </p:txBody>
      </p:sp>
      <p:sp>
        <p:nvSpPr>
          <p:cNvPr id="644" name="Shape 644"/>
          <p:cNvSpPr/>
          <p:nvPr/>
        </p:nvSpPr>
        <p:spPr>
          <a:xfrm>
            <a:off x="8906981" y="3771222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TÉCNICO - PEDAGÓGICA</a:t>
            </a:r>
          </a:p>
        </p:txBody>
      </p:sp>
      <p:sp>
        <p:nvSpPr>
          <p:cNvPr id="645" name="Shape 645"/>
          <p:cNvSpPr/>
          <p:nvPr/>
        </p:nvSpPr>
        <p:spPr>
          <a:xfrm>
            <a:off x="3827134" y="5520085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GERÊNCIA DE MANUTENÇÃO DA REDE FÍSICA</a:t>
            </a:r>
          </a:p>
        </p:txBody>
      </p:sp>
      <p:sp>
        <p:nvSpPr>
          <p:cNvPr id="646" name="Shape 646"/>
          <p:cNvSpPr/>
          <p:nvPr/>
        </p:nvSpPr>
        <p:spPr>
          <a:xfrm>
            <a:off x="3827134" y="6767779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Clr>
                <a:schemeClr val="dk1"/>
              </a:buClr>
              <a:buSzPct val="122222"/>
              <a:buFont typeface="Arial"/>
              <a:buNone/>
            </a:pPr>
            <a:r>
              <a:rPr lang="pt-BR" sz="900">
                <a:solidFill>
                  <a:schemeClr val="dk1"/>
                </a:solidFill>
              </a:rPr>
              <a:t>SUBGERÊNCIA DE MANUTENÇÃO DA REDE FÍSICA</a:t>
            </a:r>
          </a:p>
        </p:txBody>
      </p:sp>
      <p:cxnSp>
        <p:nvCxnSpPr>
          <p:cNvPr id="647" name="Shape 647"/>
          <p:cNvCxnSpPr>
            <a:stCxn id="643" idx="2"/>
            <a:endCxn id="645" idx="0"/>
          </p:cNvCxnSpPr>
          <p:nvPr/>
        </p:nvCxnSpPr>
        <p:spPr>
          <a:xfrm flipH="1">
            <a:off x="4464034" y="4427432"/>
            <a:ext cx="5578" cy="10926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48" name="Shape 648"/>
          <p:cNvCxnSpPr>
            <a:stCxn id="645" idx="2"/>
            <a:endCxn id="646" idx="0"/>
          </p:cNvCxnSpPr>
          <p:nvPr/>
        </p:nvCxnSpPr>
        <p:spPr>
          <a:xfrm>
            <a:off x="4464034" y="6138085"/>
            <a:ext cx="0" cy="62969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49" name="Shape 649"/>
          <p:cNvCxnSpPr/>
          <p:nvPr/>
        </p:nvCxnSpPr>
        <p:spPr>
          <a:xfrm rot="-5400000" flipH="1">
            <a:off x="5676625" y="-86613"/>
            <a:ext cx="600" cy="7716300"/>
          </a:xfrm>
          <a:prstGeom prst="bentConnector3">
            <a:avLst>
              <a:gd name="adj1" fmla="val -1100407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30" name="Shape 630"/>
          <p:cNvSpPr/>
          <p:nvPr/>
        </p:nvSpPr>
        <p:spPr>
          <a:xfrm rot="-5400000">
            <a:off x="2659500" y="5770228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GERÊNCIA DE SERVIÇOS GERAIS</a:t>
            </a:r>
          </a:p>
        </p:txBody>
      </p:sp>
      <p:sp>
        <p:nvSpPr>
          <p:cNvPr id="650" name="Shape 650"/>
          <p:cNvSpPr/>
          <p:nvPr/>
        </p:nvSpPr>
        <p:spPr>
          <a:xfrm>
            <a:off x="1309450" y="6996621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SUBGERÊNCIA DE ATOS ADMINISTRATIVOS</a:t>
            </a:r>
          </a:p>
        </p:txBody>
      </p:sp>
      <p:cxnSp>
        <p:nvCxnSpPr>
          <p:cNvPr id="651" name="Shape 651"/>
          <p:cNvCxnSpPr>
            <a:stCxn id="628" idx="3"/>
          </p:cNvCxnSpPr>
          <p:nvPr/>
        </p:nvCxnSpPr>
        <p:spPr>
          <a:xfrm rot="10800000">
            <a:off x="2898850" y="4952878"/>
            <a:ext cx="0" cy="24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52" name="Shape 652"/>
          <p:cNvCxnSpPr>
            <a:cxnSpLocks/>
            <a:stCxn id="618" idx="3"/>
            <a:endCxn id="650" idx="3"/>
          </p:cNvCxnSpPr>
          <p:nvPr/>
        </p:nvCxnSpPr>
        <p:spPr>
          <a:xfrm>
            <a:off x="2491850" y="4080299"/>
            <a:ext cx="407000" cy="3139372"/>
          </a:xfrm>
          <a:prstGeom prst="bentConnector3">
            <a:avLst>
              <a:gd name="adj1" fmla="val 1561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53" name="Shape 653"/>
          <p:cNvSpPr/>
          <p:nvPr/>
        </p:nvSpPr>
        <p:spPr>
          <a:xfrm>
            <a:off x="7024890" y="5100609"/>
            <a:ext cx="1107854" cy="664633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 dirty="0"/>
              <a:t>GERÊNCIA DE PROJETOS E PLANEJAMENTO EDUCACIONAL</a:t>
            </a:r>
          </a:p>
        </p:txBody>
      </p:sp>
      <p:cxnSp>
        <p:nvCxnSpPr>
          <p:cNvPr id="654" name="Shape 654"/>
          <p:cNvCxnSpPr/>
          <p:nvPr/>
        </p:nvCxnSpPr>
        <p:spPr>
          <a:xfrm flipH="1">
            <a:off x="7102219" y="4389309"/>
            <a:ext cx="2721900" cy="711300"/>
          </a:xfrm>
          <a:prstGeom prst="bentConnector3">
            <a:avLst>
              <a:gd name="adj1" fmla="val 8202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55" name="Shape 655"/>
          <p:cNvSpPr/>
          <p:nvPr/>
        </p:nvSpPr>
        <p:spPr>
          <a:xfrm rot="-5400000">
            <a:off x="7983194" y="6364386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SUBGERÊNCIA DE APOIO EDUCANDO</a:t>
            </a:r>
          </a:p>
        </p:txBody>
      </p:sp>
      <p:sp>
        <p:nvSpPr>
          <p:cNvPr id="656" name="Shape 656"/>
          <p:cNvSpPr/>
          <p:nvPr/>
        </p:nvSpPr>
        <p:spPr>
          <a:xfrm rot="-5400000">
            <a:off x="8501006" y="6364386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SUBGERÊNCIA DE FORMAÇÃO EDUCACIONAL</a:t>
            </a:r>
          </a:p>
        </p:txBody>
      </p:sp>
      <p:sp>
        <p:nvSpPr>
          <p:cNvPr id="657" name="Shape 657"/>
          <p:cNvSpPr/>
          <p:nvPr/>
        </p:nvSpPr>
        <p:spPr>
          <a:xfrm rot="-5400000">
            <a:off x="9024881" y="6376303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SUBGERÊNCIA DE PLANEJ. EDUCACIONAL E ESTATÍSTICA</a:t>
            </a:r>
          </a:p>
        </p:txBody>
      </p:sp>
      <p:sp>
        <p:nvSpPr>
          <p:cNvPr id="658" name="Shape 658"/>
          <p:cNvSpPr/>
          <p:nvPr/>
        </p:nvSpPr>
        <p:spPr>
          <a:xfrm rot="-5400000">
            <a:off x="9539231" y="6376303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 dirty="0"/>
              <a:t>SUBGERÊNCIA DA EDUCAÇÃO INFANTIL</a:t>
            </a:r>
          </a:p>
        </p:txBody>
      </p:sp>
      <p:cxnSp>
        <p:nvCxnSpPr>
          <p:cNvPr id="659" name="Shape 659"/>
          <p:cNvCxnSpPr>
            <a:stCxn id="656" idx="3"/>
          </p:cNvCxnSpPr>
          <p:nvPr/>
        </p:nvCxnSpPr>
        <p:spPr>
          <a:xfrm>
            <a:off x="9295706" y="5792736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60" name="Shape 660"/>
          <p:cNvSpPr/>
          <p:nvPr/>
        </p:nvSpPr>
        <p:spPr>
          <a:xfrm rot="-5400000">
            <a:off x="6782533" y="6400735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>
                <a:solidFill>
                  <a:schemeClr val="dk1"/>
                </a:solidFill>
              </a:rPr>
              <a:t>SUBGERÊNCIA DE PROJETOS EDUCACIONAIS</a:t>
            </a:r>
          </a:p>
        </p:txBody>
      </p:sp>
      <p:cxnSp>
        <p:nvCxnSpPr>
          <p:cNvPr id="662" name="Shape 662"/>
          <p:cNvCxnSpPr/>
          <p:nvPr/>
        </p:nvCxnSpPr>
        <p:spPr>
          <a:xfrm rot="10800000">
            <a:off x="8777902" y="4402991"/>
            <a:ext cx="0" cy="138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63" name="Shape 663"/>
          <p:cNvCxnSpPr/>
          <p:nvPr/>
        </p:nvCxnSpPr>
        <p:spPr>
          <a:xfrm rot="10800000">
            <a:off x="9295711" y="4402991"/>
            <a:ext cx="0" cy="138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64" name="Shape 664"/>
          <p:cNvCxnSpPr/>
          <p:nvPr/>
        </p:nvCxnSpPr>
        <p:spPr>
          <a:xfrm rot="10800000">
            <a:off x="9819583" y="4389237"/>
            <a:ext cx="0" cy="141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65" name="Shape 665"/>
          <p:cNvSpPr/>
          <p:nvPr/>
        </p:nvSpPr>
        <p:spPr>
          <a:xfrm rot="-5400000">
            <a:off x="7445419" y="6376311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800"/>
              <a:t>SUBGERÊNCIA DA  EDUCAÇÃO FUNDAMENTAL</a:t>
            </a:r>
          </a:p>
        </p:txBody>
      </p:sp>
      <p:cxnSp>
        <p:nvCxnSpPr>
          <p:cNvPr id="666" name="Shape 666"/>
          <p:cNvCxnSpPr/>
          <p:nvPr/>
        </p:nvCxnSpPr>
        <p:spPr>
          <a:xfrm rot="10800000">
            <a:off x="8240131" y="4400951"/>
            <a:ext cx="0" cy="140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67" name="Shape 667"/>
          <p:cNvCxnSpPr>
            <a:stCxn id="636" idx="3"/>
            <a:endCxn id="638" idx="3"/>
          </p:cNvCxnSpPr>
          <p:nvPr/>
        </p:nvCxnSpPr>
        <p:spPr>
          <a:xfrm>
            <a:off x="2403875" y="1750688"/>
            <a:ext cx="600" cy="12801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cxnSp>
        <p:nvCxnSpPr>
          <p:cNvPr id="668" name="Shape 668"/>
          <p:cNvCxnSpPr/>
          <p:nvPr/>
        </p:nvCxnSpPr>
        <p:spPr>
          <a:xfrm rot="10800000" flipH="1">
            <a:off x="2660725" y="2095630"/>
            <a:ext cx="3028800" cy="4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cxnSp>
        <p:nvCxnSpPr>
          <p:cNvPr id="669" name="Shape 669"/>
          <p:cNvCxnSpPr>
            <a:stCxn id="637" idx="3"/>
          </p:cNvCxnSpPr>
          <p:nvPr/>
        </p:nvCxnSpPr>
        <p:spPr>
          <a:xfrm>
            <a:off x="2403875" y="2390738"/>
            <a:ext cx="247500" cy="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cxnSp>
        <p:nvCxnSpPr>
          <p:cNvPr id="670" name="Shape 670"/>
          <p:cNvCxnSpPr/>
          <p:nvPr/>
        </p:nvCxnSpPr>
        <p:spPr>
          <a:xfrm rot="-5400000" flipH="1">
            <a:off x="9477881" y="4948735"/>
            <a:ext cx="1405800" cy="306300"/>
          </a:xfrm>
          <a:prstGeom prst="bentConnector3">
            <a:avLst>
              <a:gd name="adj1" fmla="val -22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71" name="Shape 671"/>
          <p:cNvSpPr/>
          <p:nvPr/>
        </p:nvSpPr>
        <p:spPr>
          <a:xfrm>
            <a:off x="5896238" y="4122358"/>
            <a:ext cx="1308683" cy="67038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pt-BR" sz="800" dirty="0"/>
              <a:t>COORDENAÇÃO DE CONTROLE FINANCEIRO E PRESTAÇÃO DE CONTAS DO FUNDEB</a:t>
            </a:r>
          </a:p>
        </p:txBody>
      </p:sp>
      <p:cxnSp>
        <p:nvCxnSpPr>
          <p:cNvPr id="672" name="Shape 672"/>
          <p:cNvCxnSpPr/>
          <p:nvPr/>
        </p:nvCxnSpPr>
        <p:spPr>
          <a:xfrm flipV="1">
            <a:off x="6533139" y="3703771"/>
            <a:ext cx="0" cy="54483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73" name="Shape 673"/>
          <p:cNvCxnSpPr>
            <a:stCxn id="643" idx="0"/>
          </p:cNvCxnSpPr>
          <p:nvPr/>
        </p:nvCxnSpPr>
        <p:spPr>
          <a:xfrm flipH="1" flipV="1">
            <a:off x="4464034" y="3698452"/>
            <a:ext cx="5578" cy="11098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74" name="Shape 674"/>
          <p:cNvSpPr/>
          <p:nvPr/>
        </p:nvSpPr>
        <p:spPr>
          <a:xfrm rot="-5400000">
            <a:off x="5442519" y="6373513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>
                <a:solidFill>
                  <a:schemeClr val="dk1"/>
                </a:solidFill>
              </a:rPr>
              <a:t>SUBGERÊNCIA DE CLASSIFICAÇÃO ORÇAMENTÁRIA</a:t>
            </a:r>
          </a:p>
        </p:txBody>
      </p:sp>
      <p:sp>
        <p:nvSpPr>
          <p:cNvPr id="675" name="Shape 675"/>
          <p:cNvSpPr/>
          <p:nvPr/>
        </p:nvSpPr>
        <p:spPr>
          <a:xfrm rot="-5400000">
            <a:off x="6027596" y="6373513"/>
            <a:ext cx="1589400" cy="446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>
                <a:solidFill>
                  <a:schemeClr val="dk1"/>
                </a:solidFill>
              </a:rPr>
              <a:t>SUBGERÊNCIA DE CONCILIAÇÃO BANCÁRIA</a:t>
            </a:r>
          </a:p>
        </p:txBody>
      </p:sp>
      <p:cxnSp>
        <p:nvCxnSpPr>
          <p:cNvPr id="676" name="Shape 676"/>
          <p:cNvCxnSpPr>
            <a:stCxn id="674" idx="3"/>
            <a:endCxn id="675" idx="3"/>
          </p:cNvCxnSpPr>
          <p:nvPr/>
        </p:nvCxnSpPr>
        <p:spPr>
          <a:xfrm rot="5400000" flipH="1" flipV="1">
            <a:off x="6529757" y="5509325"/>
            <a:ext cx="12700" cy="585077"/>
          </a:xfrm>
          <a:prstGeom prst="bentConnector3">
            <a:avLst>
              <a:gd name="adj1" fmla="val 174826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77" name="Shape 677"/>
          <p:cNvCxnSpPr>
            <a:endCxn id="671" idx="2"/>
          </p:cNvCxnSpPr>
          <p:nvPr/>
        </p:nvCxnSpPr>
        <p:spPr>
          <a:xfrm flipV="1">
            <a:off x="6549484" y="4792741"/>
            <a:ext cx="1096" cy="785099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5" name="Shape 440"/>
          <p:cNvSpPr/>
          <p:nvPr/>
        </p:nvSpPr>
        <p:spPr>
          <a:xfrm>
            <a:off x="4815161" y="4832913"/>
            <a:ext cx="1216515" cy="545904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pt-BR" sz="800" dirty="0"/>
              <a:t>SUBCOORDENAÇÃO DE OPERAÇÕES FINANCEIRAS</a:t>
            </a:r>
          </a:p>
        </p:txBody>
      </p:sp>
      <p:cxnSp>
        <p:nvCxnSpPr>
          <p:cNvPr id="16" name="Conector reto 15"/>
          <p:cNvCxnSpPr>
            <a:stCxn id="653" idx="2"/>
            <a:endCxn id="660" idx="3"/>
          </p:cNvCxnSpPr>
          <p:nvPr/>
        </p:nvCxnSpPr>
        <p:spPr>
          <a:xfrm flipH="1">
            <a:off x="7577233" y="5765242"/>
            <a:ext cx="1584" cy="6384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1" name="Conector reto 700"/>
          <p:cNvCxnSpPr>
            <a:stCxn id="75" idx="3"/>
          </p:cNvCxnSpPr>
          <p:nvPr/>
        </p:nvCxnSpPr>
        <p:spPr>
          <a:xfrm flipV="1">
            <a:off x="6031676" y="5100609"/>
            <a:ext cx="517808" cy="52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13255CEF-86E4-736F-B018-AB81351A0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  <p:sp>
        <p:nvSpPr>
          <p:cNvPr id="7" name="Shape 643">
            <a:extLst>
              <a:ext uri="{FF2B5EF4-FFF2-40B4-BE49-F238E27FC236}">
                <a16:creationId xmlns:a16="http://schemas.microsoft.com/office/drawing/2014/main" id="{48322CD2-E780-21DE-4771-E6C9DA3FB26A}"/>
              </a:ext>
            </a:extLst>
          </p:cNvPr>
          <p:cNvSpPr/>
          <p:nvPr/>
        </p:nvSpPr>
        <p:spPr>
          <a:xfrm>
            <a:off x="179276" y="4480110"/>
            <a:ext cx="1550360" cy="34965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 dirty="0"/>
              <a:t>COORDENAÇÃO DE PROCEDIMENTOS LICITATÓRIOS</a:t>
            </a:r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53667E74-B70C-95E5-DCCB-0E9EFC969685}"/>
              </a:ext>
            </a:extLst>
          </p:cNvPr>
          <p:cNvCxnSpPr>
            <a:endCxn id="7" idx="3"/>
          </p:cNvCxnSpPr>
          <p:nvPr/>
        </p:nvCxnSpPr>
        <p:spPr>
          <a:xfrm rot="10800000" flipV="1">
            <a:off x="1729636" y="4398646"/>
            <a:ext cx="363564" cy="25629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Shape 689"/>
          <p:cNvSpPr/>
          <p:nvPr/>
        </p:nvSpPr>
        <p:spPr>
          <a:xfrm>
            <a:off x="4236325" y="1447498"/>
            <a:ext cx="2258700" cy="38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690" name="Shape 690"/>
          <p:cNvSpPr txBox="1"/>
          <p:nvPr/>
        </p:nvSpPr>
        <p:spPr>
          <a:xfrm>
            <a:off x="329200" y="1015325"/>
            <a:ext cx="10277400" cy="446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DA SAÚDE - SEMSA</a:t>
            </a:r>
          </a:p>
        </p:txBody>
      </p:sp>
      <p:sp>
        <p:nvSpPr>
          <p:cNvPr id="692" name="Shape 692"/>
          <p:cNvSpPr/>
          <p:nvPr/>
        </p:nvSpPr>
        <p:spPr>
          <a:xfrm>
            <a:off x="894200" y="3168550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TÉCNICA DE ADMINISTRAÇÃO E PLANEJAMENTO</a:t>
            </a:r>
          </a:p>
        </p:txBody>
      </p:sp>
      <p:cxnSp>
        <p:nvCxnSpPr>
          <p:cNvPr id="693" name="Shape 693"/>
          <p:cNvCxnSpPr>
            <a:stCxn id="689" idx="2"/>
          </p:cNvCxnSpPr>
          <p:nvPr/>
        </p:nvCxnSpPr>
        <p:spPr>
          <a:xfrm flipH="1">
            <a:off x="5348575" y="1836298"/>
            <a:ext cx="17100" cy="1235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94" name="Shape 694"/>
          <p:cNvSpPr/>
          <p:nvPr/>
        </p:nvSpPr>
        <p:spPr>
          <a:xfrm>
            <a:off x="4236325" y="2138502"/>
            <a:ext cx="22587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</p:txBody>
      </p:sp>
      <p:cxnSp>
        <p:nvCxnSpPr>
          <p:cNvPr id="695" name="Shape 695"/>
          <p:cNvCxnSpPr/>
          <p:nvPr/>
        </p:nvCxnSpPr>
        <p:spPr>
          <a:xfrm>
            <a:off x="4298691" y="361611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96" name="Shape 696"/>
          <p:cNvCxnSpPr/>
          <p:nvPr/>
        </p:nvCxnSpPr>
        <p:spPr>
          <a:xfrm flipH="1">
            <a:off x="2692300" y="1986648"/>
            <a:ext cx="2688600" cy="3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697" name="Shape 697"/>
          <p:cNvSpPr/>
          <p:nvPr/>
        </p:nvSpPr>
        <p:spPr>
          <a:xfrm>
            <a:off x="2417600" y="2611963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CHEFE DE EXPEDIENTE</a:t>
            </a:r>
          </a:p>
        </p:txBody>
      </p:sp>
      <p:cxnSp>
        <p:nvCxnSpPr>
          <p:cNvPr id="698" name="Shape 698"/>
          <p:cNvCxnSpPr>
            <a:endCxn id="697" idx="3"/>
          </p:cNvCxnSpPr>
          <p:nvPr/>
        </p:nvCxnSpPr>
        <p:spPr>
          <a:xfrm rot="10800000">
            <a:off x="4232000" y="2780713"/>
            <a:ext cx="1116600" cy="2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99" name="Shape 699"/>
          <p:cNvSpPr/>
          <p:nvPr/>
        </p:nvSpPr>
        <p:spPr>
          <a:xfrm>
            <a:off x="5296812" y="3168550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TÉCNICA DE ATENÇÃO À SAÚDE</a:t>
            </a:r>
          </a:p>
        </p:txBody>
      </p:sp>
      <p:sp>
        <p:nvSpPr>
          <p:cNvPr id="700" name="Shape 700"/>
          <p:cNvSpPr/>
          <p:nvPr/>
        </p:nvSpPr>
        <p:spPr>
          <a:xfrm>
            <a:off x="621350" y="1405250"/>
            <a:ext cx="1814400" cy="507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CONSELHO MUNICIPAL DE SAÚDE</a:t>
            </a:r>
          </a:p>
        </p:txBody>
      </p:sp>
      <p:sp>
        <p:nvSpPr>
          <p:cNvPr id="701" name="Shape 701"/>
          <p:cNvSpPr/>
          <p:nvPr/>
        </p:nvSpPr>
        <p:spPr>
          <a:xfrm>
            <a:off x="621350" y="2016700"/>
            <a:ext cx="1814400" cy="507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SECRETÁRIO EXECUTIVO DO CONSELHO MUNICIPAL DE SAÚDE</a:t>
            </a:r>
          </a:p>
        </p:txBody>
      </p:sp>
      <p:sp>
        <p:nvSpPr>
          <p:cNvPr id="702" name="Shape 702"/>
          <p:cNvSpPr/>
          <p:nvPr/>
        </p:nvSpPr>
        <p:spPr>
          <a:xfrm>
            <a:off x="7230387" y="3168550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SERVIÇOS AMBULATORIAIS</a:t>
            </a:r>
          </a:p>
        </p:txBody>
      </p:sp>
      <p:sp>
        <p:nvSpPr>
          <p:cNvPr id="703" name="Shape 703"/>
          <p:cNvSpPr/>
          <p:nvPr/>
        </p:nvSpPr>
        <p:spPr>
          <a:xfrm>
            <a:off x="2424175" y="3642475"/>
            <a:ext cx="12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DIRETOR GERAL DO UPA</a:t>
            </a:r>
          </a:p>
        </p:txBody>
      </p:sp>
      <p:sp>
        <p:nvSpPr>
          <p:cNvPr id="704" name="Shape 704"/>
          <p:cNvSpPr/>
          <p:nvPr/>
        </p:nvSpPr>
        <p:spPr>
          <a:xfrm>
            <a:off x="3736300" y="3642475"/>
            <a:ext cx="12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DIRETOR CLÍNICO DA UPA</a:t>
            </a:r>
          </a:p>
        </p:txBody>
      </p:sp>
      <p:sp>
        <p:nvSpPr>
          <p:cNvPr id="705" name="Shape 705"/>
          <p:cNvSpPr/>
          <p:nvPr/>
        </p:nvSpPr>
        <p:spPr>
          <a:xfrm>
            <a:off x="2424175" y="4080625"/>
            <a:ext cx="1214400" cy="5079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COORDENAÇÃO ADMINISTRATIVA DA UPA</a:t>
            </a:r>
          </a:p>
        </p:txBody>
      </p:sp>
      <p:sp>
        <p:nvSpPr>
          <p:cNvPr id="706" name="Shape 706"/>
          <p:cNvSpPr/>
          <p:nvPr/>
        </p:nvSpPr>
        <p:spPr>
          <a:xfrm>
            <a:off x="3736300" y="4080625"/>
            <a:ext cx="1214400" cy="507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DE ENFERMAGEM DA UPA</a:t>
            </a:r>
          </a:p>
        </p:txBody>
      </p:sp>
      <p:cxnSp>
        <p:nvCxnSpPr>
          <p:cNvPr id="707" name="Shape 707"/>
          <p:cNvCxnSpPr>
            <a:stCxn id="702" idx="0"/>
          </p:cNvCxnSpPr>
          <p:nvPr/>
        </p:nvCxnSpPr>
        <p:spPr>
          <a:xfrm rot="10800000">
            <a:off x="7867287" y="3072250"/>
            <a:ext cx="0" cy="9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8" name="Shape 708"/>
          <p:cNvCxnSpPr>
            <a:stCxn id="705" idx="0"/>
            <a:endCxn id="703" idx="2"/>
          </p:cNvCxnSpPr>
          <p:nvPr/>
        </p:nvCxnSpPr>
        <p:spPr>
          <a:xfrm rot="10800000">
            <a:off x="3031375" y="3979825"/>
            <a:ext cx="0" cy="1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9" name="Shape 709"/>
          <p:cNvCxnSpPr>
            <a:stCxn id="706" idx="0"/>
            <a:endCxn id="704" idx="2"/>
          </p:cNvCxnSpPr>
          <p:nvPr/>
        </p:nvCxnSpPr>
        <p:spPr>
          <a:xfrm rot="10800000">
            <a:off x="4343500" y="3979825"/>
            <a:ext cx="0" cy="1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10" name="Shape 710"/>
          <p:cNvCxnSpPr/>
          <p:nvPr/>
        </p:nvCxnSpPr>
        <p:spPr>
          <a:xfrm rot="10800000" flipH="1">
            <a:off x="3031375" y="3072376"/>
            <a:ext cx="26100" cy="60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11" name="Shape 711"/>
          <p:cNvCxnSpPr>
            <a:stCxn id="704" idx="0"/>
          </p:cNvCxnSpPr>
          <p:nvPr/>
        </p:nvCxnSpPr>
        <p:spPr>
          <a:xfrm rot="10800000">
            <a:off x="4343500" y="3070675"/>
            <a:ext cx="0" cy="57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12" name="Shape 712"/>
          <p:cNvCxnSpPr>
            <a:stCxn id="699" idx="0"/>
          </p:cNvCxnSpPr>
          <p:nvPr/>
        </p:nvCxnSpPr>
        <p:spPr>
          <a:xfrm rot="10800000">
            <a:off x="5933712" y="3064150"/>
            <a:ext cx="0" cy="104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13" name="Shape 713"/>
          <p:cNvSpPr/>
          <p:nvPr/>
        </p:nvSpPr>
        <p:spPr>
          <a:xfrm rot="-5400000">
            <a:off x="-197675" y="5380199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ADMINISTRATIVA</a:t>
            </a:r>
          </a:p>
        </p:txBody>
      </p:sp>
      <p:sp>
        <p:nvSpPr>
          <p:cNvPr id="714" name="Shape 714"/>
          <p:cNvSpPr/>
          <p:nvPr/>
        </p:nvSpPr>
        <p:spPr>
          <a:xfrm rot="-5400000">
            <a:off x="315378" y="5368599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DE CONTROLE E AQUISIÇÃO DE MATERIAIS</a:t>
            </a:r>
          </a:p>
        </p:txBody>
      </p:sp>
      <p:sp>
        <p:nvSpPr>
          <p:cNvPr id="715" name="Shape 715"/>
          <p:cNvSpPr/>
          <p:nvPr/>
        </p:nvSpPr>
        <p:spPr>
          <a:xfrm rot="-5400000">
            <a:off x="1326327" y="5380199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DE ASSISTÊNCIA FARMACÊUTICA</a:t>
            </a:r>
          </a:p>
        </p:txBody>
      </p:sp>
      <p:sp>
        <p:nvSpPr>
          <p:cNvPr id="716" name="Shape 716"/>
          <p:cNvSpPr/>
          <p:nvPr/>
        </p:nvSpPr>
        <p:spPr>
          <a:xfrm rot="-5400000">
            <a:off x="2379012" y="5364462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DE PLANEJAMENTO, CONTROLE E AVALIAÇÃO</a:t>
            </a:r>
          </a:p>
        </p:txBody>
      </p:sp>
      <p:sp>
        <p:nvSpPr>
          <p:cNvPr id="717" name="Shape 717"/>
          <p:cNvSpPr/>
          <p:nvPr/>
        </p:nvSpPr>
        <p:spPr>
          <a:xfrm rot="-5400000">
            <a:off x="1852650" y="5299425"/>
            <a:ext cx="1372200" cy="457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DE CONTROLE DE INSUMOS FARMACÊUTICOS E MEDICAMENTOS</a:t>
            </a:r>
          </a:p>
        </p:txBody>
      </p:sp>
      <p:cxnSp>
        <p:nvCxnSpPr>
          <p:cNvPr id="718" name="Shape 718"/>
          <p:cNvCxnSpPr>
            <a:stCxn id="692" idx="2"/>
          </p:cNvCxnSpPr>
          <p:nvPr/>
        </p:nvCxnSpPr>
        <p:spPr>
          <a:xfrm flipH="1">
            <a:off x="1526000" y="3786550"/>
            <a:ext cx="5100" cy="92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19" name="Shape 719"/>
          <p:cNvCxnSpPr>
            <a:stCxn id="714" idx="3"/>
          </p:cNvCxnSpPr>
          <p:nvPr/>
        </p:nvCxnSpPr>
        <p:spPr>
          <a:xfrm rot="10800000">
            <a:off x="999078" y="4704549"/>
            <a:ext cx="2400" cy="14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20" name="Shape 720"/>
          <p:cNvCxnSpPr>
            <a:stCxn id="715" idx="3"/>
          </p:cNvCxnSpPr>
          <p:nvPr/>
        </p:nvCxnSpPr>
        <p:spPr>
          <a:xfrm rot="10800000">
            <a:off x="2012427" y="4719749"/>
            <a:ext cx="0" cy="14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21" name="Shape 721"/>
          <p:cNvCxnSpPr>
            <a:stCxn id="716" idx="3"/>
          </p:cNvCxnSpPr>
          <p:nvPr/>
        </p:nvCxnSpPr>
        <p:spPr>
          <a:xfrm rot="10800000">
            <a:off x="3065112" y="4717812"/>
            <a:ext cx="0" cy="1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22" name="Shape 722"/>
          <p:cNvCxnSpPr>
            <a:stCxn id="717" idx="3"/>
          </p:cNvCxnSpPr>
          <p:nvPr/>
        </p:nvCxnSpPr>
        <p:spPr>
          <a:xfrm rot="10800000">
            <a:off x="2538750" y="4699425"/>
            <a:ext cx="0" cy="14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23" name="Shape 723"/>
          <p:cNvSpPr/>
          <p:nvPr/>
        </p:nvSpPr>
        <p:spPr>
          <a:xfrm rot="-5400000">
            <a:off x="5170000" y="5423124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DE CENTRO DE SAÚDE</a:t>
            </a:r>
          </a:p>
        </p:txBody>
      </p:sp>
      <p:sp>
        <p:nvSpPr>
          <p:cNvPr id="724" name="Shape 724"/>
          <p:cNvSpPr/>
          <p:nvPr/>
        </p:nvSpPr>
        <p:spPr>
          <a:xfrm rot="-5400000">
            <a:off x="5768492" y="5382474"/>
            <a:ext cx="1372200" cy="418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DA REDE DE ATENÇÃO PRIMÁRIA</a:t>
            </a:r>
          </a:p>
        </p:txBody>
      </p:sp>
      <p:sp>
        <p:nvSpPr>
          <p:cNvPr id="725" name="Shape 725"/>
          <p:cNvSpPr/>
          <p:nvPr/>
        </p:nvSpPr>
        <p:spPr>
          <a:xfrm rot="-5400000">
            <a:off x="6398561" y="5423124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DA VIGILÂNCIA EPIDEMIOLÓGICA</a:t>
            </a:r>
          </a:p>
        </p:txBody>
      </p:sp>
      <p:sp>
        <p:nvSpPr>
          <p:cNvPr id="726" name="Shape 726"/>
          <p:cNvSpPr/>
          <p:nvPr/>
        </p:nvSpPr>
        <p:spPr>
          <a:xfrm rot="-5400000">
            <a:off x="6949984" y="5423124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DA VIGILÂNCIA AMBIENTAL</a:t>
            </a:r>
          </a:p>
        </p:txBody>
      </p:sp>
      <p:sp>
        <p:nvSpPr>
          <p:cNvPr id="727" name="Shape 727"/>
          <p:cNvSpPr/>
          <p:nvPr/>
        </p:nvSpPr>
        <p:spPr>
          <a:xfrm rot="-5400000">
            <a:off x="7496423" y="5411512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DA VIGILÂNCIA EM SAÚDE</a:t>
            </a:r>
          </a:p>
        </p:txBody>
      </p:sp>
      <p:sp>
        <p:nvSpPr>
          <p:cNvPr id="728" name="Shape 728"/>
          <p:cNvSpPr/>
          <p:nvPr/>
        </p:nvSpPr>
        <p:spPr>
          <a:xfrm rot="-5400000">
            <a:off x="8087082" y="5351675"/>
            <a:ext cx="1372200" cy="457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DE VIGILÂNCIA SANITÁRIA</a:t>
            </a:r>
          </a:p>
        </p:txBody>
      </p:sp>
      <p:cxnSp>
        <p:nvCxnSpPr>
          <p:cNvPr id="729" name="Shape 729"/>
          <p:cNvCxnSpPr>
            <a:cxnSpLocks/>
          </p:cNvCxnSpPr>
          <p:nvPr/>
        </p:nvCxnSpPr>
        <p:spPr>
          <a:xfrm rot="5400000" flipH="1" flipV="1">
            <a:off x="7670598" y="3150900"/>
            <a:ext cx="54525" cy="3528297"/>
          </a:xfrm>
          <a:prstGeom prst="bentConnector3">
            <a:avLst>
              <a:gd name="adj1" fmla="val 52225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31" name="Shape 731"/>
          <p:cNvCxnSpPr>
            <a:stCxn id="724" idx="3"/>
          </p:cNvCxnSpPr>
          <p:nvPr/>
        </p:nvCxnSpPr>
        <p:spPr>
          <a:xfrm rot="10800000">
            <a:off x="6454592" y="4667574"/>
            <a:ext cx="0" cy="23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32" name="Shape 732"/>
          <p:cNvCxnSpPr/>
          <p:nvPr/>
        </p:nvCxnSpPr>
        <p:spPr>
          <a:xfrm rot="10800000">
            <a:off x="7082270" y="4673356"/>
            <a:ext cx="2400" cy="22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33" name="Shape 733"/>
          <p:cNvCxnSpPr/>
          <p:nvPr/>
        </p:nvCxnSpPr>
        <p:spPr>
          <a:xfrm rot="10800000">
            <a:off x="7636090" y="4679056"/>
            <a:ext cx="0" cy="22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34" name="Shape 734"/>
          <p:cNvCxnSpPr/>
          <p:nvPr/>
        </p:nvCxnSpPr>
        <p:spPr>
          <a:xfrm rot="10800000">
            <a:off x="8182526" y="4682368"/>
            <a:ext cx="0" cy="20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36" name="Shape 736"/>
          <p:cNvCxnSpPr/>
          <p:nvPr/>
        </p:nvCxnSpPr>
        <p:spPr>
          <a:xfrm rot="10800000">
            <a:off x="8781715" y="4667006"/>
            <a:ext cx="0" cy="22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37" name="Shape 737"/>
          <p:cNvSpPr/>
          <p:nvPr/>
        </p:nvSpPr>
        <p:spPr>
          <a:xfrm rot="-5400000">
            <a:off x="845271" y="5374862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DE TRANSPORTE SANITÁRIO</a:t>
            </a:r>
          </a:p>
        </p:txBody>
      </p:sp>
      <p:sp>
        <p:nvSpPr>
          <p:cNvPr id="730" name="Shape 730"/>
          <p:cNvSpPr/>
          <p:nvPr/>
        </p:nvSpPr>
        <p:spPr>
          <a:xfrm rot="-5400000">
            <a:off x="8698297" y="5368599"/>
            <a:ext cx="13722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DE SAÚDE BUCAL</a:t>
            </a:r>
          </a:p>
        </p:txBody>
      </p:sp>
      <p:cxnSp>
        <p:nvCxnSpPr>
          <p:cNvPr id="739" name="Shape 739"/>
          <p:cNvCxnSpPr>
            <a:stCxn id="737" idx="3"/>
          </p:cNvCxnSpPr>
          <p:nvPr/>
        </p:nvCxnSpPr>
        <p:spPr>
          <a:xfrm rot="10800000">
            <a:off x="1531371" y="4632512"/>
            <a:ext cx="0" cy="22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40" name="Shape 740"/>
          <p:cNvCxnSpPr>
            <a:stCxn id="699" idx="2"/>
          </p:cNvCxnSpPr>
          <p:nvPr/>
        </p:nvCxnSpPr>
        <p:spPr>
          <a:xfrm rot="-5400000" flipH="1">
            <a:off x="6733062" y="2987200"/>
            <a:ext cx="352200" cy="1950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41" name="Shape 741"/>
          <p:cNvCxnSpPr/>
          <p:nvPr/>
        </p:nvCxnSpPr>
        <p:spPr>
          <a:xfrm>
            <a:off x="7868348" y="4134825"/>
            <a:ext cx="4200" cy="53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42" name="Shape 742"/>
          <p:cNvSpPr/>
          <p:nvPr/>
        </p:nvSpPr>
        <p:spPr>
          <a:xfrm>
            <a:off x="6655469" y="6385749"/>
            <a:ext cx="1372200" cy="279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SAÚDE MENTAL</a:t>
            </a:r>
          </a:p>
        </p:txBody>
      </p:sp>
      <p:sp>
        <p:nvSpPr>
          <p:cNvPr id="743" name="Shape 743"/>
          <p:cNvSpPr/>
          <p:nvPr/>
        </p:nvSpPr>
        <p:spPr>
          <a:xfrm>
            <a:off x="6655469" y="6776274"/>
            <a:ext cx="1372200" cy="279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PROGRAMA DE SAÚDE</a:t>
            </a:r>
          </a:p>
        </p:txBody>
      </p:sp>
      <p:sp>
        <p:nvSpPr>
          <p:cNvPr id="744" name="Shape 744"/>
          <p:cNvSpPr/>
          <p:nvPr/>
        </p:nvSpPr>
        <p:spPr>
          <a:xfrm>
            <a:off x="6655469" y="7166799"/>
            <a:ext cx="1372200" cy="279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EDUCAÇÃO EM SAÚDE</a:t>
            </a:r>
          </a:p>
        </p:txBody>
      </p:sp>
      <p:cxnSp>
        <p:nvCxnSpPr>
          <p:cNvPr id="745" name="Shape 745"/>
          <p:cNvCxnSpPr>
            <a:stCxn id="724" idx="1"/>
            <a:endCxn id="742" idx="1"/>
          </p:cNvCxnSpPr>
          <p:nvPr/>
        </p:nvCxnSpPr>
        <p:spPr>
          <a:xfrm rot="-5400000" flipH="1">
            <a:off x="6431342" y="6301224"/>
            <a:ext cx="247500" cy="2010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46" name="Shape 746"/>
          <p:cNvCxnSpPr>
            <a:endCxn id="743" idx="1"/>
          </p:cNvCxnSpPr>
          <p:nvPr/>
        </p:nvCxnSpPr>
        <p:spPr>
          <a:xfrm rot="-5400000" flipH="1">
            <a:off x="6357419" y="6618024"/>
            <a:ext cx="385500" cy="210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47" name="Shape 747"/>
          <p:cNvCxnSpPr>
            <a:endCxn id="744" idx="1"/>
          </p:cNvCxnSpPr>
          <p:nvPr/>
        </p:nvCxnSpPr>
        <p:spPr>
          <a:xfrm rot="-5400000" flipH="1">
            <a:off x="6349469" y="7000599"/>
            <a:ext cx="398700" cy="2133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48" name="Shape 748"/>
          <p:cNvSpPr/>
          <p:nvPr/>
        </p:nvSpPr>
        <p:spPr>
          <a:xfrm>
            <a:off x="3268348" y="6302990"/>
            <a:ext cx="1541400" cy="279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CONTROLE DOS SERVIÇOS EM SAÚDE</a:t>
            </a:r>
          </a:p>
        </p:txBody>
      </p:sp>
      <p:sp>
        <p:nvSpPr>
          <p:cNvPr id="749" name="Shape 749"/>
          <p:cNvSpPr/>
          <p:nvPr/>
        </p:nvSpPr>
        <p:spPr>
          <a:xfrm>
            <a:off x="3268348" y="6627149"/>
            <a:ext cx="1541400" cy="279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AVALIAÇÃO DOS SERVIÇOS EM SAÚDE</a:t>
            </a:r>
          </a:p>
        </p:txBody>
      </p:sp>
      <p:sp>
        <p:nvSpPr>
          <p:cNvPr id="750" name="Shape 750"/>
          <p:cNvSpPr/>
          <p:nvPr/>
        </p:nvSpPr>
        <p:spPr>
          <a:xfrm>
            <a:off x="3268348" y="6943501"/>
            <a:ext cx="1541400" cy="279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PLANEJAMENTO EM SAÚDE</a:t>
            </a:r>
          </a:p>
        </p:txBody>
      </p:sp>
      <p:cxnSp>
        <p:nvCxnSpPr>
          <p:cNvPr id="751" name="Shape 751"/>
          <p:cNvCxnSpPr>
            <a:endCxn id="748" idx="1"/>
          </p:cNvCxnSpPr>
          <p:nvPr/>
        </p:nvCxnSpPr>
        <p:spPr>
          <a:xfrm rot="-5400000" flipH="1">
            <a:off x="3039898" y="6214340"/>
            <a:ext cx="247500" cy="209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52" name="Shape 752"/>
          <p:cNvCxnSpPr>
            <a:endCxn id="749" idx="1"/>
          </p:cNvCxnSpPr>
          <p:nvPr/>
        </p:nvCxnSpPr>
        <p:spPr>
          <a:xfrm rot="-5400000" flipH="1">
            <a:off x="2970298" y="6468899"/>
            <a:ext cx="385500" cy="210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53" name="Shape 753"/>
          <p:cNvCxnSpPr>
            <a:endCxn id="750" idx="1"/>
          </p:cNvCxnSpPr>
          <p:nvPr/>
        </p:nvCxnSpPr>
        <p:spPr>
          <a:xfrm rot="-5400000" flipH="1">
            <a:off x="2962348" y="6777301"/>
            <a:ext cx="398700" cy="2133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54" name="Shape 754"/>
          <p:cNvSpPr/>
          <p:nvPr/>
        </p:nvSpPr>
        <p:spPr>
          <a:xfrm>
            <a:off x="3268348" y="7259844"/>
            <a:ext cx="1541400" cy="279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DO SISTEMA DE OUVIDORIA SUS</a:t>
            </a:r>
          </a:p>
        </p:txBody>
      </p:sp>
      <p:cxnSp>
        <p:nvCxnSpPr>
          <p:cNvPr id="755" name="Shape 755"/>
          <p:cNvCxnSpPr>
            <a:stCxn id="714" idx="1"/>
          </p:cNvCxnSpPr>
          <p:nvPr/>
        </p:nvCxnSpPr>
        <p:spPr>
          <a:xfrm>
            <a:off x="1001478" y="6223449"/>
            <a:ext cx="0" cy="68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56" name="Shape 756"/>
          <p:cNvSpPr/>
          <p:nvPr/>
        </p:nvSpPr>
        <p:spPr>
          <a:xfrm>
            <a:off x="1001486" y="6732400"/>
            <a:ext cx="1541400" cy="279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CONTROLE DE MATERIAL</a:t>
            </a:r>
          </a:p>
        </p:txBody>
      </p:sp>
      <p:sp>
        <p:nvSpPr>
          <p:cNvPr id="757" name="Shape 757"/>
          <p:cNvSpPr/>
          <p:nvPr/>
        </p:nvSpPr>
        <p:spPr>
          <a:xfrm>
            <a:off x="319686" y="7126675"/>
            <a:ext cx="1541400" cy="279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SETORIAL DE RECURSOS HUMANOS</a:t>
            </a:r>
          </a:p>
        </p:txBody>
      </p:sp>
      <p:cxnSp>
        <p:nvCxnSpPr>
          <p:cNvPr id="758" name="Shape 758"/>
          <p:cNvCxnSpPr>
            <a:stCxn id="713" idx="1"/>
          </p:cNvCxnSpPr>
          <p:nvPr/>
        </p:nvCxnSpPr>
        <p:spPr>
          <a:xfrm>
            <a:off x="488425" y="6235049"/>
            <a:ext cx="0" cy="90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59" name="Shape 759"/>
          <p:cNvCxnSpPr>
            <a:endCxn id="754" idx="1"/>
          </p:cNvCxnSpPr>
          <p:nvPr/>
        </p:nvCxnSpPr>
        <p:spPr>
          <a:xfrm rot="-5400000" flipH="1">
            <a:off x="2995798" y="7127094"/>
            <a:ext cx="337500" cy="207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60" name="Shape 760"/>
          <p:cNvSpPr/>
          <p:nvPr/>
        </p:nvSpPr>
        <p:spPr>
          <a:xfrm>
            <a:off x="1241723" y="6372194"/>
            <a:ext cx="1541400" cy="279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SUBGERÊNCIA DE DISTRI. DE INSUMOS E MEDICAMENTOS</a:t>
            </a:r>
          </a:p>
        </p:txBody>
      </p:sp>
      <p:cxnSp>
        <p:nvCxnSpPr>
          <p:cNvPr id="761" name="Shape 761"/>
          <p:cNvCxnSpPr>
            <a:stCxn id="717" idx="1"/>
          </p:cNvCxnSpPr>
          <p:nvPr/>
        </p:nvCxnSpPr>
        <p:spPr>
          <a:xfrm>
            <a:off x="2538750" y="6214125"/>
            <a:ext cx="0" cy="15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62" name="Shape 762"/>
          <p:cNvCxnSpPr>
            <a:stCxn id="692" idx="0"/>
            <a:endCxn id="763" idx="0"/>
          </p:cNvCxnSpPr>
          <p:nvPr/>
        </p:nvCxnSpPr>
        <p:spPr>
          <a:xfrm rot="-5400000" flipH="1">
            <a:off x="5584550" y="-884900"/>
            <a:ext cx="600" cy="8107500"/>
          </a:xfrm>
          <a:prstGeom prst="bentConnector3">
            <a:avLst>
              <a:gd name="adj1" fmla="val -159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64" name="Shape 764"/>
          <p:cNvCxnSpPr>
            <a:stCxn id="713" idx="3"/>
            <a:endCxn id="716" idx="3"/>
          </p:cNvCxnSpPr>
          <p:nvPr/>
        </p:nvCxnSpPr>
        <p:spPr>
          <a:xfrm rot="-5400000">
            <a:off x="1768975" y="3566699"/>
            <a:ext cx="15600" cy="2576700"/>
          </a:xfrm>
          <a:prstGeom prst="bentConnector3">
            <a:avLst>
              <a:gd name="adj1" fmla="val 103412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65" name="Shape 765"/>
          <p:cNvCxnSpPr>
            <a:stCxn id="700" idx="3"/>
            <a:endCxn id="701" idx="3"/>
          </p:cNvCxnSpPr>
          <p:nvPr/>
        </p:nvCxnSpPr>
        <p:spPr>
          <a:xfrm>
            <a:off x="2435750" y="1659200"/>
            <a:ext cx="600" cy="6114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763" name="Shape 763"/>
          <p:cNvSpPr/>
          <p:nvPr/>
        </p:nvSpPr>
        <p:spPr>
          <a:xfrm>
            <a:off x="9001762" y="3168550"/>
            <a:ext cx="1273800" cy="61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/>
              <a:t>SUPERVISÃO DO FUNDO MUNICIPAL DE SAÚDE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5129C5E-B7C1-DDC8-10E2-F2A12C0BD0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  <p:cxnSp>
        <p:nvCxnSpPr>
          <p:cNvPr id="3" name="Shape 698">
            <a:extLst>
              <a:ext uri="{FF2B5EF4-FFF2-40B4-BE49-F238E27FC236}">
                <a16:creationId xmlns:a16="http://schemas.microsoft.com/office/drawing/2014/main" id="{7DF494B0-D37D-E9B7-0F3D-0EB7B107C871}"/>
              </a:ext>
            </a:extLst>
          </p:cNvPr>
          <p:cNvCxnSpPr/>
          <p:nvPr/>
        </p:nvCxnSpPr>
        <p:spPr>
          <a:xfrm rot="10800000">
            <a:off x="5348575" y="2799112"/>
            <a:ext cx="1116600" cy="2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Shape 697">
            <a:extLst>
              <a:ext uri="{FF2B5EF4-FFF2-40B4-BE49-F238E27FC236}">
                <a16:creationId xmlns:a16="http://schemas.microsoft.com/office/drawing/2014/main" id="{CDBC25CC-CDFC-3E30-D1F7-FBDC484342CA}"/>
              </a:ext>
            </a:extLst>
          </p:cNvPr>
          <p:cNvSpPr/>
          <p:nvPr/>
        </p:nvSpPr>
        <p:spPr>
          <a:xfrm>
            <a:off x="6391495" y="2591323"/>
            <a:ext cx="1814400" cy="337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/>
              <a:t>ANALISTA DE CONVÊNIOS EM SAÚDE PÚBLICA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777"/>
          <p:cNvSpPr/>
          <p:nvPr/>
        </p:nvSpPr>
        <p:spPr>
          <a:xfrm>
            <a:off x="3762898" y="1590600"/>
            <a:ext cx="2355900" cy="405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</a:t>
            </a:r>
          </a:p>
        </p:txBody>
      </p:sp>
      <p:sp>
        <p:nvSpPr>
          <p:cNvPr id="778" name="Shape 778"/>
          <p:cNvSpPr txBox="1"/>
          <p:nvPr/>
        </p:nvSpPr>
        <p:spPr>
          <a:xfrm>
            <a:off x="211687" y="1060249"/>
            <a:ext cx="10277400" cy="446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800" b="1"/>
              <a:t>SECRETARIA MUNICIPAL DE OBRAS PÚBLICAS E SERVIÇOS URBANOS- SEMOP</a:t>
            </a:r>
          </a:p>
        </p:txBody>
      </p:sp>
      <p:cxnSp>
        <p:nvCxnSpPr>
          <p:cNvPr id="780" name="Shape 780"/>
          <p:cNvCxnSpPr>
            <a:stCxn id="777" idx="2"/>
            <a:endCxn id="781" idx="2"/>
          </p:cNvCxnSpPr>
          <p:nvPr/>
        </p:nvCxnSpPr>
        <p:spPr>
          <a:xfrm>
            <a:off x="4940848" y="1996200"/>
            <a:ext cx="0" cy="3447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82" name="Shape 782"/>
          <p:cNvSpPr/>
          <p:nvPr/>
        </p:nvSpPr>
        <p:spPr>
          <a:xfrm>
            <a:off x="3762898" y="2149938"/>
            <a:ext cx="2355900" cy="351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200"/>
              <a:t>SECRETÁRIO ADJUNTO</a:t>
            </a:r>
          </a:p>
        </p:txBody>
      </p:sp>
      <p:sp>
        <p:nvSpPr>
          <p:cNvPr id="783" name="Shape 783"/>
          <p:cNvSpPr/>
          <p:nvPr/>
        </p:nvSpPr>
        <p:spPr>
          <a:xfrm>
            <a:off x="591162" y="3386407"/>
            <a:ext cx="1665900" cy="520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SUPERVISÃO DE OBRAS PÚBLICAS</a:t>
            </a:r>
          </a:p>
        </p:txBody>
      </p:sp>
      <p:sp>
        <p:nvSpPr>
          <p:cNvPr id="784" name="Shape 784"/>
          <p:cNvSpPr/>
          <p:nvPr/>
        </p:nvSpPr>
        <p:spPr>
          <a:xfrm>
            <a:off x="2459620" y="2631044"/>
            <a:ext cx="1892399" cy="351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CHEFE DE EXPEDIENTE</a:t>
            </a:r>
          </a:p>
        </p:txBody>
      </p:sp>
      <p:cxnSp>
        <p:nvCxnSpPr>
          <p:cNvPr id="785" name="Shape 785"/>
          <p:cNvCxnSpPr>
            <a:stCxn id="784" idx="3"/>
          </p:cNvCxnSpPr>
          <p:nvPr/>
        </p:nvCxnSpPr>
        <p:spPr>
          <a:xfrm>
            <a:off x="4352020" y="2806994"/>
            <a:ext cx="59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86" name="Shape 786"/>
          <p:cNvSpPr/>
          <p:nvPr/>
        </p:nvSpPr>
        <p:spPr>
          <a:xfrm>
            <a:off x="3706205" y="6517870"/>
            <a:ext cx="1431300" cy="351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AGENTE DE PROTEÇÃO E DEFESA CIVIL (FG)</a:t>
            </a:r>
          </a:p>
        </p:txBody>
      </p:sp>
      <p:sp>
        <p:nvSpPr>
          <p:cNvPr id="787" name="Shape 787"/>
          <p:cNvSpPr/>
          <p:nvPr/>
        </p:nvSpPr>
        <p:spPr>
          <a:xfrm>
            <a:off x="6380887" y="3889526"/>
            <a:ext cx="1587000" cy="465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 dirty="0"/>
              <a:t>COORDENAÇÃO DE SERVIÇOS RURAIS</a:t>
            </a:r>
          </a:p>
        </p:txBody>
      </p:sp>
      <p:sp>
        <p:nvSpPr>
          <p:cNvPr id="788" name="Shape 788"/>
          <p:cNvSpPr/>
          <p:nvPr/>
        </p:nvSpPr>
        <p:spPr>
          <a:xfrm>
            <a:off x="7338898" y="3178486"/>
            <a:ext cx="1665900" cy="520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 dirty="0"/>
              <a:t>SUPERVISÃO DE SERVIÇOS RURAIS</a:t>
            </a:r>
          </a:p>
        </p:txBody>
      </p:sp>
      <p:sp>
        <p:nvSpPr>
          <p:cNvPr id="789" name="Shape 789"/>
          <p:cNvSpPr/>
          <p:nvPr/>
        </p:nvSpPr>
        <p:spPr>
          <a:xfrm rot="16200000">
            <a:off x="506251" y="4736673"/>
            <a:ext cx="1665900" cy="520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GERÊNCIA DE CONTRATOS</a:t>
            </a:r>
          </a:p>
        </p:txBody>
      </p:sp>
      <p:cxnSp>
        <p:nvCxnSpPr>
          <p:cNvPr id="791" name="Shape 791"/>
          <p:cNvCxnSpPr>
            <a:stCxn id="788" idx="0"/>
            <a:endCxn id="783" idx="0"/>
          </p:cNvCxnSpPr>
          <p:nvPr/>
        </p:nvCxnSpPr>
        <p:spPr>
          <a:xfrm rot="16200000" flipH="1" flipV="1">
            <a:off x="4694019" y="-91422"/>
            <a:ext cx="207921" cy="6747736"/>
          </a:xfrm>
          <a:prstGeom prst="bentConnector3">
            <a:avLst>
              <a:gd name="adj1" fmla="val -10994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92" name="Shape 792"/>
          <p:cNvCxnSpPr/>
          <p:nvPr/>
        </p:nvCxnSpPr>
        <p:spPr>
          <a:xfrm>
            <a:off x="9011622" y="4354826"/>
            <a:ext cx="0" cy="22265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95" name="Shape 795"/>
          <p:cNvCxnSpPr>
            <a:stCxn id="788" idx="2"/>
          </p:cNvCxnSpPr>
          <p:nvPr/>
        </p:nvCxnSpPr>
        <p:spPr>
          <a:xfrm>
            <a:off x="8171848" y="3698686"/>
            <a:ext cx="0" cy="922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96" name="Shape 796"/>
          <p:cNvSpPr/>
          <p:nvPr/>
        </p:nvSpPr>
        <p:spPr>
          <a:xfrm>
            <a:off x="8211298" y="5082074"/>
            <a:ext cx="1587000" cy="534956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 dirty="0"/>
              <a:t>GERÊNCIA DE INSPEÇÃO DE ESTRADAS VICINAIS</a:t>
            </a:r>
          </a:p>
        </p:txBody>
      </p:sp>
      <p:sp>
        <p:nvSpPr>
          <p:cNvPr id="794" name="Shape 794"/>
          <p:cNvSpPr/>
          <p:nvPr/>
        </p:nvSpPr>
        <p:spPr>
          <a:xfrm>
            <a:off x="8211298" y="6581425"/>
            <a:ext cx="1587000" cy="465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SUBGERÊNCIA DE VIAS RURAIS</a:t>
            </a:r>
          </a:p>
        </p:txBody>
      </p:sp>
      <p:sp>
        <p:nvSpPr>
          <p:cNvPr id="797" name="Shape 797"/>
          <p:cNvSpPr/>
          <p:nvPr/>
        </p:nvSpPr>
        <p:spPr>
          <a:xfrm>
            <a:off x="3707255" y="6905961"/>
            <a:ext cx="1431300" cy="351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AGENTE DE PROTEÇÃO E DEFESA CIVIL (FG)</a:t>
            </a:r>
          </a:p>
        </p:txBody>
      </p:sp>
      <p:sp>
        <p:nvSpPr>
          <p:cNvPr id="798" name="Shape 798"/>
          <p:cNvSpPr/>
          <p:nvPr/>
        </p:nvSpPr>
        <p:spPr>
          <a:xfrm>
            <a:off x="6380887" y="6601727"/>
            <a:ext cx="1431300" cy="351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DE MANUTENÇÃO DE PRAÇAS</a:t>
            </a:r>
          </a:p>
        </p:txBody>
      </p:sp>
      <p:sp>
        <p:nvSpPr>
          <p:cNvPr id="799" name="Shape 799"/>
          <p:cNvSpPr/>
          <p:nvPr/>
        </p:nvSpPr>
        <p:spPr>
          <a:xfrm>
            <a:off x="6380887" y="7039317"/>
            <a:ext cx="1431300" cy="351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DE NECRÓPOLE</a:t>
            </a:r>
          </a:p>
        </p:txBody>
      </p:sp>
      <p:cxnSp>
        <p:nvCxnSpPr>
          <p:cNvPr id="800" name="Shape 800"/>
          <p:cNvCxnSpPr>
            <a:stCxn id="799" idx="1"/>
          </p:cNvCxnSpPr>
          <p:nvPr/>
        </p:nvCxnSpPr>
        <p:spPr>
          <a:xfrm rot="10800000">
            <a:off x="6259087" y="7215267"/>
            <a:ext cx="12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03" name="Shape 803"/>
          <p:cNvSpPr/>
          <p:nvPr/>
        </p:nvSpPr>
        <p:spPr>
          <a:xfrm>
            <a:off x="2102779" y="7006106"/>
            <a:ext cx="1431300" cy="351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SUBGERÊNCIA DE CONSERVAÇÃO DE VIAS URBANAS</a:t>
            </a:r>
          </a:p>
        </p:txBody>
      </p:sp>
      <p:sp>
        <p:nvSpPr>
          <p:cNvPr id="804" name="Shape 804"/>
          <p:cNvSpPr/>
          <p:nvPr/>
        </p:nvSpPr>
        <p:spPr>
          <a:xfrm>
            <a:off x="4107893" y="3334129"/>
            <a:ext cx="1665900" cy="520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SUPERVISÃO DE </a:t>
            </a:r>
            <a:r>
              <a:rPr lang="pt-BR" sz="1000">
                <a:solidFill>
                  <a:schemeClr val="dk1"/>
                </a:solidFill>
              </a:rPr>
              <a:t>SERVIÇOS URBANOS</a:t>
            </a:r>
          </a:p>
        </p:txBody>
      </p:sp>
      <p:sp>
        <p:nvSpPr>
          <p:cNvPr id="805" name="Shape 805"/>
          <p:cNvSpPr/>
          <p:nvPr/>
        </p:nvSpPr>
        <p:spPr>
          <a:xfrm>
            <a:off x="4107893" y="3981546"/>
            <a:ext cx="1665900" cy="520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/>
              <a:t>COORDENAÇÃO DE MANUTENÇÃO DE VIAS PÚBLICAS</a:t>
            </a:r>
          </a:p>
        </p:txBody>
      </p:sp>
      <p:sp>
        <p:nvSpPr>
          <p:cNvPr id="806" name="Shape 806"/>
          <p:cNvSpPr/>
          <p:nvPr/>
        </p:nvSpPr>
        <p:spPr>
          <a:xfrm>
            <a:off x="2257050" y="4423716"/>
            <a:ext cx="1431300" cy="554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>
                <a:solidFill>
                  <a:schemeClr val="dk1"/>
                </a:solidFill>
              </a:rPr>
              <a:t>SUBCOORDENAÇÃO DE CONTROLE DE MÁQUINAS PESADAS</a:t>
            </a:r>
          </a:p>
        </p:txBody>
      </p:sp>
      <p:cxnSp>
        <p:nvCxnSpPr>
          <p:cNvPr id="807" name="Shape 807"/>
          <p:cNvCxnSpPr/>
          <p:nvPr/>
        </p:nvCxnSpPr>
        <p:spPr>
          <a:xfrm>
            <a:off x="3707237" y="4697326"/>
            <a:ext cx="1232100" cy="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08" name="Shape 808"/>
          <p:cNvSpPr/>
          <p:nvPr/>
        </p:nvSpPr>
        <p:spPr>
          <a:xfrm rot="-5400000">
            <a:off x="3706205" y="5536473"/>
            <a:ext cx="1431300" cy="351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GERÊNCIA DE TRANSPORTE AEROPORTUÁRIO</a:t>
            </a:r>
          </a:p>
        </p:txBody>
      </p:sp>
      <p:sp>
        <p:nvSpPr>
          <p:cNvPr id="809" name="Shape 809"/>
          <p:cNvSpPr/>
          <p:nvPr/>
        </p:nvSpPr>
        <p:spPr>
          <a:xfrm rot="-5400000">
            <a:off x="4225157" y="5551415"/>
            <a:ext cx="1431300" cy="351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/>
              <a:t>GERÊNCIA  DE DEFESA CIVIL</a:t>
            </a:r>
          </a:p>
        </p:txBody>
      </p:sp>
      <p:sp>
        <p:nvSpPr>
          <p:cNvPr id="810" name="Shape 810"/>
          <p:cNvSpPr/>
          <p:nvPr/>
        </p:nvSpPr>
        <p:spPr>
          <a:xfrm rot="-5400000">
            <a:off x="3200629" y="5551423"/>
            <a:ext cx="1431300" cy="351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700">
                <a:solidFill>
                  <a:schemeClr val="dk1"/>
                </a:solidFill>
              </a:rPr>
              <a:t>GERÊNCIA DE MANUTENÇÃO DE REDE PLUVIAL</a:t>
            </a:r>
          </a:p>
        </p:txBody>
      </p:sp>
      <p:cxnSp>
        <p:nvCxnSpPr>
          <p:cNvPr id="811" name="Shape 811"/>
          <p:cNvCxnSpPr>
            <a:stCxn id="808" idx="3"/>
          </p:cNvCxnSpPr>
          <p:nvPr/>
        </p:nvCxnSpPr>
        <p:spPr>
          <a:xfrm rot="10800000" flipH="1">
            <a:off x="4421855" y="4897473"/>
            <a:ext cx="2100" cy="9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12" name="Shape 812"/>
          <p:cNvCxnSpPr/>
          <p:nvPr/>
        </p:nvCxnSpPr>
        <p:spPr>
          <a:xfrm rot="5400000" flipH="1" flipV="1">
            <a:off x="4363770" y="4444475"/>
            <a:ext cx="134759" cy="1029741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13" name="Shape 813"/>
          <p:cNvCxnSpPr>
            <a:stCxn id="809" idx="1"/>
            <a:endCxn id="797" idx="3"/>
          </p:cNvCxnSpPr>
          <p:nvPr/>
        </p:nvCxnSpPr>
        <p:spPr>
          <a:xfrm rot="-5400000" flipH="1">
            <a:off x="4720157" y="6663665"/>
            <a:ext cx="639000" cy="197700"/>
          </a:xfrm>
          <a:prstGeom prst="bentConnector4">
            <a:avLst>
              <a:gd name="adj1" fmla="val 6014"/>
              <a:gd name="adj2" fmla="val 2204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14" name="Shape 814"/>
          <p:cNvCxnSpPr>
            <a:stCxn id="786" idx="3"/>
          </p:cNvCxnSpPr>
          <p:nvPr/>
        </p:nvCxnSpPr>
        <p:spPr>
          <a:xfrm>
            <a:off x="5137505" y="6693820"/>
            <a:ext cx="243900" cy="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15" name="Shape 815"/>
          <p:cNvCxnSpPr>
            <a:endCxn id="803" idx="0"/>
          </p:cNvCxnSpPr>
          <p:nvPr/>
        </p:nvCxnSpPr>
        <p:spPr>
          <a:xfrm>
            <a:off x="2816029" y="4981406"/>
            <a:ext cx="2400" cy="20246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16" name="Shape 816"/>
          <p:cNvCxnSpPr>
            <a:stCxn id="799" idx="1"/>
          </p:cNvCxnSpPr>
          <p:nvPr/>
        </p:nvCxnSpPr>
        <p:spPr>
          <a:xfrm rot="10800000">
            <a:off x="5459887" y="6443067"/>
            <a:ext cx="921000" cy="772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17" name="Shape 817"/>
          <p:cNvCxnSpPr>
            <a:stCxn id="798" idx="1"/>
          </p:cNvCxnSpPr>
          <p:nvPr/>
        </p:nvCxnSpPr>
        <p:spPr>
          <a:xfrm flipH="1">
            <a:off x="5466787" y="6777677"/>
            <a:ext cx="914100" cy="1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8" name="Shape 696"/>
          <p:cNvCxnSpPr/>
          <p:nvPr/>
        </p:nvCxnSpPr>
        <p:spPr>
          <a:xfrm flipH="1">
            <a:off x="4939337" y="2046648"/>
            <a:ext cx="2688600" cy="3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cxnSp>
        <p:nvCxnSpPr>
          <p:cNvPr id="44" name="Shape 696"/>
          <p:cNvCxnSpPr/>
          <p:nvPr/>
        </p:nvCxnSpPr>
        <p:spPr>
          <a:xfrm flipH="1">
            <a:off x="2209720" y="2068696"/>
            <a:ext cx="2688600" cy="3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45" name="CaixaDeTexto 44"/>
          <p:cNvSpPr txBox="1"/>
          <p:nvPr/>
        </p:nvSpPr>
        <p:spPr>
          <a:xfrm>
            <a:off x="602437" y="1945585"/>
            <a:ext cx="2032473" cy="5539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COORDENADORIA MUNICIPAL DE PROTEÇÃO E DEFESA CIVIL - COMPDEC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582106" y="1842351"/>
            <a:ext cx="2032473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FUNDO DE PROTEÇÃO E DEFESA CIVIL - FUNPDEC</a:t>
            </a:r>
          </a:p>
        </p:txBody>
      </p:sp>
      <p:sp>
        <p:nvSpPr>
          <p:cNvPr id="47" name="Shape 806"/>
          <p:cNvSpPr/>
          <p:nvPr/>
        </p:nvSpPr>
        <p:spPr>
          <a:xfrm>
            <a:off x="6088878" y="4457015"/>
            <a:ext cx="1426055" cy="554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900" dirty="0">
                <a:solidFill>
                  <a:schemeClr val="dk1"/>
                </a:solidFill>
              </a:rPr>
              <a:t>SUBCOORDENAÇÃO DE MANUTENÇÃO DE PRÉDIOS PÚBLICOS</a:t>
            </a:r>
          </a:p>
        </p:txBody>
      </p:sp>
      <p:cxnSp>
        <p:nvCxnSpPr>
          <p:cNvPr id="49" name="Shape 807"/>
          <p:cNvCxnSpPr/>
          <p:nvPr/>
        </p:nvCxnSpPr>
        <p:spPr>
          <a:xfrm>
            <a:off x="4939337" y="4703593"/>
            <a:ext cx="1137940" cy="52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" name="Conector reto 16"/>
          <p:cNvCxnSpPr>
            <a:stCxn id="787" idx="0"/>
          </p:cNvCxnSpPr>
          <p:nvPr/>
        </p:nvCxnSpPr>
        <p:spPr>
          <a:xfrm flipV="1">
            <a:off x="7174387" y="3798570"/>
            <a:ext cx="0" cy="9095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 flipV="1">
            <a:off x="7174387" y="3784376"/>
            <a:ext cx="1830411" cy="657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cxnSpLocks/>
          </p:cNvCxnSpPr>
          <p:nvPr/>
        </p:nvCxnSpPr>
        <p:spPr>
          <a:xfrm>
            <a:off x="9004798" y="3786993"/>
            <a:ext cx="0" cy="10253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E21B1CF7-BBB9-D39A-668F-8EC15294A8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63"/>
          <a:stretch/>
        </p:blipFill>
        <p:spPr>
          <a:xfrm>
            <a:off x="4362741" y="68976"/>
            <a:ext cx="1895475" cy="835447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21CE49E-3FCA-21E7-001A-ADB981761AF1}"/>
              </a:ext>
            </a:extLst>
          </p:cNvPr>
          <p:cNvCxnSpPr/>
          <p:nvPr/>
        </p:nvCxnSpPr>
        <p:spPr>
          <a:xfrm>
            <a:off x="1297172" y="3906607"/>
            <a:ext cx="0" cy="2155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Shape 787">
            <a:extLst>
              <a:ext uri="{FF2B5EF4-FFF2-40B4-BE49-F238E27FC236}">
                <a16:creationId xmlns:a16="http://schemas.microsoft.com/office/drawing/2014/main" id="{E1728DD4-ADD8-9933-8DEF-58115055CF89}"/>
              </a:ext>
            </a:extLst>
          </p:cNvPr>
          <p:cNvSpPr/>
          <p:nvPr/>
        </p:nvSpPr>
        <p:spPr>
          <a:xfrm>
            <a:off x="8218122" y="3880662"/>
            <a:ext cx="1587000" cy="465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pt-BR" sz="1000" dirty="0"/>
              <a:t>COORDENAÇÃO DE VIAS VICINAIS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1582</Words>
  <Application>Microsoft Office PowerPoint</Application>
  <PresentationFormat>Personalizar</PresentationFormat>
  <Paragraphs>320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Jacinta Meriguete Costa</dc:creator>
  <cp:lastModifiedBy>Luciana Nogueira Mars</cp:lastModifiedBy>
  <cp:revision>37</cp:revision>
  <cp:lastPrinted>2018-01-19T19:52:22Z</cp:lastPrinted>
  <dcterms:modified xsi:type="dcterms:W3CDTF">2024-09-25T20:13:00Z</dcterms:modified>
</cp:coreProperties>
</file>